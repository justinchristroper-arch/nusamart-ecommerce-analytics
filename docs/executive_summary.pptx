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nilai</c:v>
                </c:pt>
              </c:strCache>
            </c:strRef>
          </c:tx>
          <c:dPt>
            <c:idx val="0"/>
            <c:spPr>
              <a:solidFill>
                <a:srgbClr val="118DFF"/>
              </a:solidFill>
            </c:spPr>
          </c:dPt>
          <c:dPt>
            <c:idx val="1"/>
            <c:spPr>
              <a:solidFill>
                <a:srgbClr val="118DFF"/>
              </a:solidFill>
            </c:spPr>
          </c:dPt>
          <c:dPt>
            <c:idx val="2"/>
            <c:spPr>
              <a:solidFill>
                <a:srgbClr val="118DFF"/>
              </a:solidFill>
            </c:spPr>
          </c:dPt>
          <c:dPt>
            <c:idx val="3"/>
            <c:spPr>
              <a:solidFill>
                <a:srgbClr val="E66C37"/>
              </a:solidFill>
            </c:spPr>
          </c:dPt>
          <c:dLbls>
            <c:dLbl>
              <c:idx val="0"/>
              <c:tx>
                <c:rich>
                  <a:bodyPr/>
                  <a:lstStyle/>
                  <a:p>
                    <a:pPr>
                      <a:defRPr/>
                    </a:pPr>
                    <a:r>
                      <a:rPr sz="1600" i="0" lang="id-ID">
                        <a:solidFill>
                          <a:srgbClr val="118DFF"/>
                        </a:solidFill>
                        <a:latin typeface="Segoe UI Semibold"/>
                      </a:rPr>
                      <a:t>+161,6%</a:t>
                    </a:r>
                  </a:p>
                </c:rich>
              </c:tx>
              <c:dLblPos val="outEnd"/>
              <c:showLegendKey val="0"/>
              <c:showVal val="1"/>
              <c:showCatName val="0"/>
              <c:showSerName val="0"/>
              <c:showPercent val="0"/>
              <c:showBubbleSize val="0"/>
            </c:dLbl>
            <c:dLbl>
              <c:idx val="3"/>
              <c:tx>
                <c:rich>
                  <a:bodyPr/>
                  <a:lstStyle/>
                  <a:p>
                    <a:pPr>
                      <a:defRPr/>
                    </a:pPr>
                    <a:r>
                      <a:rPr sz="1600" i="0" lang="id-ID">
                        <a:solidFill>
                          <a:srgbClr val="E66C37"/>
                        </a:solidFill>
                        <a:latin typeface="Segoe UI Semibold"/>
                      </a:rPr>
                      <a:t>+0,3%</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Revenue</c:v>
                </c:pt>
                <c:pt idx="1">
                  <c:v>Order</c:v>
                </c:pt>
                <c:pt idx="2">
                  <c:v>Customer</c:v>
                </c:pt>
                <c:pt idx="3">
                  <c:v>Nilai per order (AOV)</c:v>
                </c:pt>
              </c:strCache>
            </c:strRef>
          </c:cat>
          <c:val>
            <c:numRef>
              <c:f>Sheet1!$B$2:$B$5</c:f>
              <c:numCache>
                <c:formatCode>General</c:formatCode>
                <c:ptCount val="4"/>
                <c:pt idx="0">
                  <c:v>161.6</c:v>
                </c:pt>
                <c:pt idx="1">
                  <c:v>160.8</c:v>
                </c:pt>
                <c:pt idx="2">
                  <c:v>161.8</c:v>
                </c:pt>
                <c:pt idx="3">
                  <c:v>0.3</c:v>
                </c:pt>
              </c:numCache>
            </c:numRef>
          </c:val>
        </c:ser>
        <c:gapWidth val="50"/>
        <c:axId val="-2068027336"/>
        <c:axId val="-2113994440"/>
      </c:barChart>
      <c:catAx>
        <c:axId val="-2068027336"/>
        <c:scaling>
          <c:orientation val="minMax"/>
        </c:scaling>
        <c:delete val="0"/>
        <c:axPos val="b"/>
        <c:majorTickMark val="none"/>
        <c:minorTickMark val="none"/>
        <c:tickLblPos val="nextTo"/>
        <c:spPr>
          <a:ln>
            <a:solidFill>
              <a:srgbClr val="D0D7DE"/>
            </a:solidFill>
          </a:ln>
        </c:spPr>
        <c:txPr>
          <a:bodyPr/>
          <a:lstStyle/>
          <a:p>
            <a:pPr>
              <a:defRPr sz="1300">
                <a:solidFill>
                  <a:srgbClr val="1F2328"/>
                </a:solidFill>
              </a:defRPr>
            </a:pPr>
          </a:p>
        </c:txPr>
        <c:crossAx val="-2113994440"/>
        <c:crosses val="autoZero"/>
        <c:auto val="1"/>
        <c:lblAlgn val="ctr"/>
        <c:lblOffset val="100"/>
        <c:noMultiLvlLbl val="0"/>
      </c:catAx>
      <c:valAx>
        <c:axId val="-2113994440"/>
        <c:scaling>
          <c:max val="194.16"/>
          <c:min val="0.0"/>
        </c:scaling>
        <c:delete/>
        <c:axPos val="l"/>
        <c:majorTickMark val="out"/>
        <c:minorTickMark val="none"/>
        <c:tickLblPos val="nextTo"/>
        <c:crossAx val="-2068027336"/>
        <c:crosses val="autoZero"/>
      </c:valAx>
    </c:plotArea>
    <c:dispBlanksAs val="gap"/>
  </c:chart>
  <c:txPr>
    <a:bodyPr/>
    <a:lstStyle/>
    <a:p>
      <a:pPr>
        <a:defRPr sz="1300">
          <a:solidFill>
            <a:srgbClr val="1F2328"/>
          </a:solidFill>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nilai</c:v>
                </c:pt>
              </c:strCache>
            </c:strRef>
          </c:tx>
          <c:dPt>
            <c:idx val="0"/>
            <c:spPr>
              <a:solidFill>
                <a:srgbClr val="118DFF"/>
              </a:solidFill>
            </c:spPr>
          </c:dPt>
          <c:dPt>
            <c:idx val="1"/>
            <c:spPr>
              <a:solidFill>
                <a:srgbClr val="B3D7FF"/>
              </a:solidFill>
            </c:spPr>
          </c:dPt>
          <c:dPt>
            <c:idx val="2"/>
            <c:spPr>
              <a:solidFill>
                <a:srgbClr val="B3D7FF"/>
              </a:solidFill>
            </c:spPr>
          </c:dPt>
          <c:dPt>
            <c:idx val="3"/>
            <c:spPr>
              <a:solidFill>
                <a:srgbClr val="B3D7FF"/>
              </a:solidFill>
            </c:spPr>
          </c:dPt>
          <c:dPt>
            <c:idx val="4"/>
            <c:spPr>
              <a:solidFill>
                <a:srgbClr val="B3D7FF"/>
              </a:solidFill>
            </c:spPr>
          </c:dPt>
          <c:dPt>
            <c:idx val="5"/>
            <c:spPr>
              <a:solidFill>
                <a:srgbClr val="B3D7FF"/>
              </a:solidFill>
            </c:spPr>
          </c:dPt>
          <c:dPt>
            <c:idx val="6"/>
            <c:spPr>
              <a:solidFill>
                <a:srgbClr val="B3D7FF"/>
              </a:solidFill>
            </c:spPr>
          </c:dPt>
          <c:dPt>
            <c:idx val="7"/>
            <c:spPr>
              <a:solidFill>
                <a:srgbClr val="B3D7FF"/>
              </a:solidFill>
            </c:spPr>
          </c:dPt>
          <c:dPt>
            <c:idx val="8"/>
            <c:spPr>
              <a:solidFill>
                <a:srgbClr val="B3D7FF"/>
              </a:solidFill>
            </c:spPr>
          </c:dPt>
          <c:dPt>
            <c:idx val="9"/>
            <c:spPr>
              <a:solidFill>
                <a:srgbClr val="B3D7FF"/>
              </a:solidFill>
            </c:spPr>
          </c:dPt>
          <c:dLbls>
            <c:dLbl>
              <c:idx val="0"/>
              <c:tx>
                <c:rich>
                  <a:bodyPr/>
                  <a:lstStyle/>
                  <a:p>
                    <a:pPr>
                      <a:defRPr/>
                    </a:pPr>
                    <a:r>
                      <a:rPr sz="1600" i="0" lang="id-ID">
                        <a:solidFill>
                          <a:srgbClr val="118DFF"/>
                        </a:solidFill>
                        <a:latin typeface="Segoe UI Semibold"/>
                      </a:rPr>
                      <a:t>41,09%</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Sheet1!$B$2:$B$11</c:f>
              <c:numCache>
                <c:formatCode>General</c:formatCode>
                <c:ptCount val="10"/>
                <c:pt idx="0">
                  <c:v>41.09</c:v>
                </c:pt>
                <c:pt idx="1">
                  <c:v>15.53</c:v>
                </c:pt>
                <c:pt idx="2">
                  <c:v>11.07</c:v>
                </c:pt>
                <c:pt idx="3">
                  <c:v>8.67</c:v>
                </c:pt>
                <c:pt idx="4">
                  <c:v>6.96</c:v>
                </c:pt>
                <c:pt idx="5">
                  <c:v>5.53</c:v>
                </c:pt>
                <c:pt idx="6">
                  <c:v>4.27</c:v>
                </c:pt>
                <c:pt idx="7">
                  <c:v>3.28</c:v>
                </c:pt>
                <c:pt idx="8">
                  <c:v>2.29</c:v>
                </c:pt>
                <c:pt idx="9">
                  <c:v>1.31</c:v>
                </c:pt>
              </c:numCache>
            </c:numRef>
          </c:val>
        </c:ser>
        <c:gapWidth val="50"/>
        <c:axId val="-2068027336"/>
        <c:axId val="-2113994440"/>
      </c:barChart>
      <c:catAx>
        <c:axId val="-2068027336"/>
        <c:scaling>
          <c:orientation val="minMax"/>
        </c:scaling>
        <c:delete val="0"/>
        <c:axPos val="b"/>
        <c:majorTickMark val="none"/>
        <c:minorTickMark val="none"/>
        <c:tickLblPos val="nextTo"/>
        <c:spPr>
          <a:ln>
            <a:solidFill>
              <a:srgbClr val="D0D7DE"/>
            </a:solidFill>
          </a:ln>
        </c:spPr>
        <c:txPr>
          <a:bodyPr/>
          <a:lstStyle/>
          <a:p>
            <a:pPr>
              <a:defRPr sz="1300">
                <a:solidFill>
                  <a:srgbClr val="1F2328"/>
                </a:solidFill>
              </a:defRPr>
            </a:pPr>
          </a:p>
        </c:txPr>
        <c:crossAx val="-2113994440"/>
        <c:crosses val="autoZero"/>
        <c:auto val="1"/>
        <c:lblAlgn val="ctr"/>
        <c:lblOffset val="100"/>
        <c:noMultiLvlLbl val="0"/>
      </c:catAx>
      <c:valAx>
        <c:axId val="-2113994440"/>
        <c:scaling>
          <c:max val="49.308"/>
          <c:min val="0.0"/>
        </c:scaling>
        <c:delete/>
        <c:axPos val="l"/>
        <c:majorTickMark val="out"/>
        <c:minorTickMark val="none"/>
        <c:tickLblPos val="nextTo"/>
        <c:crossAx val="-2068027336"/>
        <c:crosses val="autoZero"/>
      </c:valAx>
    </c:plotArea>
    <c:dispBlanksAs val="gap"/>
  </c:chart>
  <c:txPr>
    <a:bodyPr/>
    <a:lstStyle/>
    <a:p>
      <a:pPr>
        <a:defRPr sz="1300">
          <a:solidFill>
            <a:srgbClr val="1F2328"/>
          </a:solidFill>
          <a:latin typeface="Segoe U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nilai</c:v>
                </c:pt>
              </c:strCache>
            </c:strRef>
          </c:tx>
          <c:dPt>
            <c:idx val="0"/>
            <c:spPr>
              <a:solidFill>
                <a:srgbClr val="118DFF"/>
              </a:solidFill>
            </c:spPr>
          </c:dPt>
          <c:dPt>
            <c:idx val="1"/>
            <c:spPr>
              <a:solidFill>
                <a:srgbClr val="8C959F"/>
              </a:solidFill>
            </c:spPr>
          </c:dPt>
          <c:dPt>
            <c:idx val="2"/>
            <c:spPr>
              <a:solidFill>
                <a:srgbClr val="F5C6B0"/>
              </a:solidFill>
            </c:spPr>
          </c:dPt>
          <c:dPt>
            <c:idx val="3"/>
            <c:spPr>
              <a:solidFill>
                <a:srgbClr val="F5C6B0"/>
              </a:solidFill>
            </c:spPr>
          </c:dPt>
          <c:dPt>
            <c:idx val="4"/>
            <c:spPr>
              <a:solidFill>
                <a:srgbClr val="F5C6B0"/>
              </a:solidFill>
            </c:spPr>
          </c:dPt>
          <c:dPt>
            <c:idx val="5"/>
            <c:spPr>
              <a:solidFill>
                <a:srgbClr val="F5C6B0"/>
              </a:solidFill>
            </c:spPr>
          </c:dPt>
          <c:dPt>
            <c:idx val="6"/>
            <c:spPr>
              <a:solidFill>
                <a:srgbClr val="F5C6B0"/>
              </a:solidFill>
            </c:spPr>
          </c:dPt>
          <c:dPt>
            <c:idx val="7"/>
            <c:spPr>
              <a:solidFill>
                <a:srgbClr val="F5C6B0"/>
              </a:solidFill>
            </c:spPr>
          </c:dPt>
          <c:dPt>
            <c:idx val="8"/>
            <c:spPr>
              <a:solidFill>
                <a:srgbClr val="F5C6B0"/>
              </a:solidFill>
            </c:spPr>
          </c:dPt>
          <c:dPt>
            <c:idx val="9"/>
            <c:spPr>
              <a:solidFill>
                <a:srgbClr val="F5C6B0"/>
              </a:solidFill>
            </c:spPr>
          </c:dPt>
          <c:dPt>
            <c:idx val="10"/>
            <c:spPr>
              <a:solidFill>
                <a:srgbClr val="F5C6B0"/>
              </a:solidFill>
            </c:spPr>
          </c:dPt>
          <c:dPt>
            <c:idx val="11"/>
            <c:spPr>
              <a:solidFill>
                <a:srgbClr val="F5C6B0"/>
              </a:solidFill>
            </c:spPr>
          </c:dPt>
          <c:dPt>
            <c:idx val="12"/>
            <c:spPr>
              <a:solidFill>
                <a:srgbClr val="E66C37"/>
              </a:solidFill>
            </c:spPr>
          </c:dPt>
          <c:dLbls>
            <c:dLbl>
              <c:idx val="0"/>
              <c:tx>
                <c:rich>
                  <a:bodyPr/>
                  <a:lstStyle/>
                  <a:p>
                    <a:pPr>
                      <a:defRPr/>
                    </a:pPr>
                    <a:r>
                      <a:rPr sz="1600" i="0" lang="id-ID">
                        <a:solidFill>
                          <a:srgbClr val="118DFF"/>
                        </a:solidFill>
                        <a:latin typeface="Segoe UI Semibold"/>
                      </a:rPr>
                      <a:t>13,80%</a:t>
                    </a:r>
                  </a:p>
                </c:rich>
              </c:tx>
              <c:dLblPos val="outEnd"/>
              <c:showLegendKey val="0"/>
              <c:showVal val="1"/>
              <c:showCatName val="0"/>
              <c:showSerName val="0"/>
              <c:showPercent val="0"/>
              <c:showBubbleSize val="0"/>
            </c:dLbl>
            <c:dLbl>
              <c:idx val="12"/>
              <c:tx>
                <c:rich>
                  <a:bodyPr/>
                  <a:lstStyle/>
                  <a:p>
                    <a:pPr>
                      <a:defRPr/>
                    </a:pPr>
                    <a:r>
                      <a:rPr sz="1600" i="0" lang="id-ID">
                        <a:solidFill>
                          <a:srgbClr val="E66C37"/>
                        </a:solidFill>
                        <a:latin typeface="Segoe UI Semibold"/>
                      </a:rPr>
                      <a:t>22,30%</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Sheet1!$A$2:$A$14</c:f>
              <c:strCache>
                <c:ptCount val="13"/>
                <c:pt idx="0">
                  <c:v>SP (São Paulo)</c:v>
                </c:pt>
                <c:pt idx="1">
                  <c:v>Rata-rata nasional</c:v>
                </c:pt>
                <c:pt idx="2">
                  <c:v>DF</c:v>
                </c:pt>
                <c:pt idx="3">
                  <c:v>RJ</c:v>
                </c:pt>
                <c:pt idx="4">
                  <c:v>MG</c:v>
                </c:pt>
                <c:pt idx="5">
                  <c:v>PR</c:v>
                </c:pt>
                <c:pt idx="6">
                  <c:v>SC</c:v>
                </c:pt>
                <c:pt idx="7">
                  <c:v>RS</c:v>
                </c:pt>
                <c:pt idx="8">
                  <c:v>GO</c:v>
                </c:pt>
                <c:pt idx="9">
                  <c:v>ES</c:v>
                </c:pt>
                <c:pt idx="10">
                  <c:v>BA</c:v>
                </c:pt>
                <c:pt idx="11">
                  <c:v>CE</c:v>
                </c:pt>
                <c:pt idx="12">
                  <c:v>PE</c:v>
                </c:pt>
              </c:strCache>
            </c:strRef>
          </c:cat>
          <c:val>
            <c:numRef>
              <c:f>Sheet1!$B$2:$B$14</c:f>
              <c:numCache>
                <c:formatCode>General</c:formatCode>
                <c:ptCount val="13"/>
                <c:pt idx="0">
                  <c:v>13.8</c:v>
                </c:pt>
                <c:pt idx="1">
                  <c:v>16.57</c:v>
                </c:pt>
                <c:pt idx="2">
                  <c:v>16.66</c:v>
                </c:pt>
                <c:pt idx="3">
                  <c:v>16.74</c:v>
                </c:pt>
                <c:pt idx="4">
                  <c:v>17.03</c:v>
                </c:pt>
                <c:pt idx="5">
                  <c:v>17.12</c:v>
                </c:pt>
                <c:pt idx="6">
                  <c:v>17.32</c:v>
                </c:pt>
                <c:pt idx="7">
                  <c:v>18.04</c:v>
                </c:pt>
                <c:pt idx="8">
                  <c:v>18.21</c:v>
                </c:pt>
                <c:pt idx="9">
                  <c:v>18.29</c:v>
                </c:pt>
                <c:pt idx="10">
                  <c:v>19.59</c:v>
                </c:pt>
                <c:pt idx="11">
                  <c:v>21.1</c:v>
                </c:pt>
                <c:pt idx="12">
                  <c:v>22.3</c:v>
                </c:pt>
              </c:numCache>
            </c:numRef>
          </c:val>
        </c:ser>
        <c:gapWidth val="50"/>
        <c:axId val="-2068027336"/>
        <c:axId val="-2113994440"/>
      </c:barChart>
      <c:catAx>
        <c:axId val="-2068027336"/>
        <c:scaling>
          <c:orientation val="minMax"/>
        </c:scaling>
        <c:delete val="0"/>
        <c:axPos val="l"/>
        <c:majorTickMark val="none"/>
        <c:minorTickMark val="none"/>
        <c:tickLblPos val="nextTo"/>
        <c:spPr>
          <a:ln>
            <a:solidFill>
              <a:srgbClr val="D0D7DE"/>
            </a:solidFill>
          </a:ln>
        </c:spPr>
        <c:txPr>
          <a:bodyPr/>
          <a:lstStyle/>
          <a:p>
            <a:pPr>
              <a:defRPr sz="1100">
                <a:solidFill>
                  <a:srgbClr val="1F2328"/>
                </a:solidFill>
              </a:defRPr>
            </a:pPr>
          </a:p>
        </c:txPr>
        <c:crossAx val="-2113994440"/>
        <c:crosses val="autoZero"/>
        <c:auto val="1"/>
        <c:lblAlgn val="ctr"/>
        <c:lblOffset val="100"/>
        <c:noMultiLvlLbl val="0"/>
      </c:catAx>
      <c:valAx>
        <c:axId val="-2113994440"/>
        <c:scaling>
          <c:max val="26.76"/>
          <c:min val="0.0"/>
        </c:scaling>
        <c:delete/>
        <c:axPos val="b"/>
        <c:majorTickMark val="out"/>
        <c:minorTickMark val="none"/>
        <c:tickLblPos val="nextTo"/>
        <c:crossAx val="-2068027336"/>
        <c:crosses val="autoZero"/>
      </c:valAx>
    </c:plotArea>
    <c:dispBlanksAs val="gap"/>
  </c:chart>
  <c:txPr>
    <a:bodyPr/>
    <a:lstStyle/>
    <a:p>
      <a:pPr>
        <a:defRPr sz="1100">
          <a:solidFill>
            <a:srgbClr val="1F2328"/>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id-ID"/>
              <a:t>Tujuan slide: memperkenalkan cakupan analisis dan membangun kepercayaan pada angka.</a:t>
            </a:r>
          </a:p>
          <a:p>
            <a:r>
              <a:rPr lang="id-ID"/>
              <a:t>NusaMart adalah marketplace fiktif; datanya dataset publik Olist dari Brasil, jadi mata uangnya Real Brasil (R$) dan wilayahnya state Brasil.</a:t>
            </a:r>
          </a:p>
          <a:p>
            <a:r>
              <a:rPr lang="id-ID"/>
              <a:t>Jendela analisis Jan 2017 – Jul 2018: bulan di kedua ujung data tidak lengkap, dan data Agustus 2018 terpotong di tengah bulan, jadi dikecualikan.</a:t>
            </a:r>
          </a:p>
          <a:p>
            <a:r>
              <a:rPr lang="id-ID"/>
              <a:t>KPI jendela analisis: revenue R$ 12.342.450,49 dari 89.860 order dan 86.960 customer; AOV R$ 137,35; 102.738 unit terjual; freight burden (proxy) 16,57%; repeat rate 3,00%.</a:t>
            </a:r>
          </a:p>
          <a:p>
            <a:r>
              <a:rPr lang="id-ID"/>
              <a:t>Definisi: revenue = jumlah harga barang pada order berstatus delivered, tanpa ongkir; customer = customer_unique_id.</a:t>
            </a:r>
          </a:p>
          <a:p>
            <a:r>
              <a:rPr lang="id-ID"/>
              <a:t>Rekonsiliasi: angka yang sama muncul di notebook (bagian KPI referensi), sql/05_kpi_reference.sql, dan halaman Rekonsiliasi di laporan Power BI.</a:t>
            </a:r>
          </a:p>
          <a:p>
            <a:r>
              <a:rPr lang="id-ID"/>
              <a:t>Sumber: results/05_kpi_total_filtered.csv.</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id-ID"/>
              <a:t>Kalimat masalah bisnis di kotak atas adalah skenario studi kasus, bukan temuan data. Jawaban di bawahnya berasal dari data.</a:t>
            </a:r>
          </a:p>
          <a:p>
            <a:r>
              <a:rPr lang="id-ID"/>
              <a:t>Pertumbuhan, periode sebanding Jan–Jul: revenue +161,6%, order +160,8%, customer +161,8%, AOV +0,3% — results/02_q1c_fair_period_comparison.csv.</a:t>
            </a:r>
          </a:p>
          <a:p>
            <a:r>
              <a:rPr lang="id-ID"/>
              <a:t>Loyalitas: 84.351 dari 86.960 customer (97,0%) hanya order sekali — results/03_q4b_order_distribution.csv.</a:t>
            </a:r>
          </a:p>
          <a:p>
            <a:r>
              <a:rPr lang="id-ID"/>
              <a:t>Beban ongkir: rinciannya di slide 5.</a:t>
            </a:r>
          </a:p>
          <a:p>
            <a:r>
              <a:rPr lang="id-ID"/>
              <a:t>Kategori, periode sebanding Jan–Jul (results/02_q2c_category_fair_period.csv): health_beauty naik ke #1 (porsi 7,98% → 9,97%); watches_gifts dari #6 ke #2 (6,76% → 9,69%); cool_stuff turun dari #5 ke #10 (6,89% → 3,32%).</a:t>
            </a:r>
          </a:p>
          <a:p>
            <a:r>
              <a:rPr lang="id-ID"/>
              <a:t>Rekomendasi untuk pergeseran kategori ada di catatan slide 6 (rekomendasi lanjutan).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id-ID"/>
              <a:t>Angka lengkap, Jan–Jul 2017 → Jan–Jul 2018 (results/02_q1c_fair_period_comparison.csv): revenue R$ 2.438.756,43 → R$ 6.379.548,48 (+161,6%); order 17.805 → 46.432 (+160,8%); customer 17.347 → 45.414 (+161,8%); AOV R$ 136,97 → R$ 137,40 (+0,3%).</a:t>
            </a:r>
          </a:p>
          <a:p>
            <a:r>
              <a:rPr lang="id-ID"/>
              <a:t>Karena AOV hampir tidak berubah, revenue tumbuh hampir persis sebesar pertumbuhan order dan customer.</a:t>
            </a:r>
          </a:p>
          <a:p>
            <a:r>
              <a:rPr lang="id-ID"/>
              <a:t>Laju YoY bulanan melambat dari +727,1% (Januari 2018) menjadi +80,2% (Juli 2018) — results/02_q1b_yoy.csv.</a:t>
            </a:r>
          </a:p>
          <a:p>
            <a:r>
              <a:rPr lang="id-ID"/>
              <a:t>Hipotesis [High confidence]: angka pertumbuhan yang besar sebagian mencerminkan basis awal 2017 yang masih kecil, karena YoY terus melambat. Data belum cukup untuk menyimpulkan apakah volume mulai mendatar.</a:t>
            </a:r>
          </a:p>
          <a:p>
            <a:r>
              <a:rPr lang="id-ID"/>
              <a:t>Implikasi: nilai per order adalah pengungkit pertumbuhan berikutnya (rekomendasi prioritas 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id-ID"/>
              <a:t>Repeat rate 3,00%: 2.609 dari 86.960 customer order dua kali atau lebih; 84.351 customer (97,0%) hanya order sekali — results/03_q4a_repeat_rate.csv, results/03_q4b_order_distribution.csv.</a:t>
            </a:r>
          </a:p>
          <a:p>
            <a:r>
              <a:rPr lang="id-ID"/>
              <a:t>Bukan karena customer belum sempat kembali: dari 13.592 customer yang order pertamanya Jan–Jun 2017 (diamati penuh 12 bulan), hanya 451 (3,32%) yang order lagi di hari lain dalam 12 bulan — results/03_q4d_cohort_12m_repeat.csv.</a:t>
            </a:r>
          </a:p>
          <a:p>
            <a:r>
              <a:rPr lang="id-ID"/>
              <a:t>Customer returning hanya menyumbang 1,76% revenue di jendela analisis (2,17% di Jan–Jul 2018) — results/03_q4c_new_vs_returning.csv.</a:t>
            </a:r>
          </a:p>
          <a:p>
            <a:r>
              <a:rPr lang="id-ID"/>
              <a:t>Konsentrasi: desil 1 (8.696 customer) = 41,09% revenue; 20% customer teratas = 56,62%; separuh customer terbawah = 16,69% — results/03_q5a_decile.csv.</a:t>
            </a:r>
          </a:p>
          <a:p>
            <a:r>
              <a:rPr lang="id-ID"/>
              <a:t>Desil 1: rata-rata belanja R$ 583,17 per customer, repeat rate 8,61%, dan 91,99% revenue-nya dari pembeli sekali — results/03_q5c_decile_repeat.csv.</a:t>
            </a:r>
          </a:p>
          <a:p>
            <a:r>
              <a:rPr lang="id-ID"/>
              <a:t>Hipotesis [Low confidence]: banyak kategori besar jarang dibeli ulang, dan belum ada program platform yang mengajak customer kembali. Perlu data repeat rate per kategori dan data CRM untuk membuktikannya.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id-ID"/>
              <a:t>Freight burden (proxy) = Σ ongkir ÷ Σ harga barang. Ongkir di dataset ini dibayar customer, jadi angka ini mengukur beban ongkir customer relatif terhadap harga barang — bukan profit dan bukan biaya perusahaan. Rata-rata nasional 16,57%.</a:t>
            </a:r>
          </a:p>
          <a:p>
            <a:r>
              <a:rPr lang="id-ID"/>
              <a:t>State dengan ≥ 1.000 order (12 dari 27 state, 93,33% order), dari beban tertinggi: PE 22,30%, CE 21,10%, BA 19,59%, ES 18,29%, GO 18,21%, RS 18,04%, SC 17,32%, PR 17,12%, MG 17,03%, RJ 16,74%, DF 16,66%, SP 13,80% — results/02_q3_region.csv.</a:t>
            </a:r>
          </a:p>
          <a:p>
            <a:r>
              <a:rPr lang="id-ID"/>
              <a:t>SP: 37,82% revenue dan 41,44% order, dengan freight burden 13,80% — terendah dari 27 state.</a:t>
            </a:r>
          </a:p>
          <a:p>
            <a:r>
              <a:rPr lang="id-ID"/>
              <a:t>State besar lainnya semuanya di atas SP, tetapi tidak semuanya jauh di atas rata-rata: DF 16,66% dan RJ 16,74% hampir sama dengan rata-rata nasional 16,57%, sedangkan yang tertinggi PE 22,30%.</a:t>
            </a:r>
          </a:p>
          <a:p>
            <a:r>
              <a:rPr lang="id-ID"/>
              <a:t>State kecil tidak dijadikan contoh utama karena ordernya sedikit sehingga angkanya mudah berfluktuasi. Beban tertinggi di antaranya: RR 27,83% (40 order), MA 26,25% (684 order), RO 25,26% (235 order), SE 24,38% (309 order), AM 24,33% (141 order), PI 23,88% (455 order).</a:t>
            </a:r>
          </a:p>
          <a:p>
            <a:r>
              <a:rPr lang="id-ID"/>
              <a:t>Kategori (results/04_q7_high_burden_categories.csv, results/04_q6_volume_vs_value.csv): 9 kategori dengan revenue di atas rata-rata kategori dan freight burden di atas 16,57%; total R$ 4.465.407,00 (36,18% revenue).</a:t>
            </a:r>
          </a:p>
          <a:p>
            <a:r>
              <a:rPr lang="id-ID"/>
              <a:t>Semua 8 kategori lainnya (selain office_furniture) berharga di bawah rata-rata R$ 120,14 per unit: ongkirnya biasa, harganya murah. office_furniture: ongkir ≈ R$ 39,92 per unit, sekitar 2× rata-rata ≈ R$ 19,91 (freight burden × harga rata-rata per unit).</a:t>
            </a:r>
          </a:p>
          <a:p>
            <a:r>
              <a:rPr lang="id-ID"/>
              <a:t>Implikasi, hipotesis [Low confidence]: ongkir yang berat berpotensi menahan pembelian di luar SP dan pembelian barang murah. Dataset hanya berisi order yang sudah terjadi (tanpa data kunjungan atau keranjang yang ditinggalkan), jadi dampaknya belum bisa diukur; uji lewat gratis ongkir multi-item (prioritas 3) dan pilot subsidi ongkir per state (rekomendasi lanjutan 4).</a:t>
            </a:r>
          </a:p>
          <a:p>
            <a:r>
              <a:rPr lang="id-ID"/>
              <a:t>Hipotesis [Medium confidence]: seller terkonsentrasi di sekitar SP sehingga jarak kirim ke SP pendek; lokasi seller berada di luar scope data.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id-ID"/>
              <a:t>Kriteria prioritas: ukuran masalah × kendali platform × kemudahan diuji. Urutan ini adalah penilaian, bukan hasil perhitungan.</a:t>
            </a:r>
          </a:p>
          <a:p>
            <a:r>
              <a:rPr lang="id-ID"/>
              <a:t>1) Program pembelian kedua — CRM / Marketing Manager, dibantu Category Manager untuk pemetaan produk pelengkap. Metrik: customer baru yang order lagi di hari lain dalam 12 bulan (baseline kohort Jan–Jun 2017: 3,32%), porsi revenue returning (baseline Jan–Jul 2018: 2,17%), dan repeat rate desil 1 (baseline 8,61%). Pagar: AOV kelompok uji tidak turun dibanding kontrol, supaya voucher tidak sekadar menjadi diskon.</a:t>
            </a:r>
          </a:p>
          <a:p>
            <a:r>
              <a:rPr lang="id-ID"/>
              <a:t>2) Nilai per order — Head of Commercial. Metrik: AOV (baseline R$ 137,35) dan unit per order (baseline 1,14), dibanding kelompok kontrol. Pagar: jumlah order kelompok uji tidak turun, karena ambang gratis ongkir bisa membuat customer menunda pembelian kecil.</a:t>
            </a:r>
          </a:p>
          <a:p>
            <a:r>
              <a:rPr lang="id-ID"/>
              <a:t>3) Beban ongkir — Category Manager bersama Operations / Logistics. Mulai dari kategori murah dengan freight burden tertinggi: telephony 23,58%, furniture_decor 23,55%, housewares 23,17%; untuk office_furniture, uji subsidi ongkir terarah. Metrik: freight burden per kategori (baseline rata-rata 16,57%) dan unit per order. Metrik hasil: pertumbuhan order di kategori dan state sasaran dibanding kontrol; baseline order per kategori ada di results/02_q2_category.csv dan per state di results/02_q3_region.csv.</a:t>
            </a:r>
          </a:p>
          <a:p>
            <a:r>
              <a:rPr lang="id-ID"/>
              <a:t>Rekomendasi lanjutan 4: pilot subsidi ongkir platform di state berongkir tinggi yang volumenya cukup, misalnya BA (freight burden 19,59%, 3.094 order) atau PE (freight burden 22,30%, 1.504 order), dengan state lain sebagai pembanding. Metrik: order dan revenue state pilot, serta porsi revenue di luar SP (baseline 62,18%).</a:t>
            </a:r>
          </a:p>
          <a:p>
            <a:r>
              <a:rPr lang="id-ID"/>
              <a:t>Rekomendasi lanjutan 5: investigasi penurunan cool_stuff (porsi 6,89% → 3,32%) sebelum bertindak; tambah pasokan di kategori yang tumbuh (health_beauty, watches_gifts, baby); wajibkan periode sebanding di laporan tahunan.</a:t>
            </a:r>
          </a:p>
          <a:p>
            <a:r>
              <a:rPr lang="id-ID"/>
              <a:t>Risiko: voucher, subsidi ongkir, dan potongan komisi adalah biaya platform yang belum bisa diukur karena dataset tidak memuat cost; karena itu dampak ditulis sebagai arah.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id-ID"/>
              <a:t>Langkahnya berurutan dan sengaja tanpa tanggal: eksperimen dulu, karena semua penyebab masih hipotesis dan biaya program belum bisa diukur tanpa data cost.</a:t>
            </a:r>
          </a:p>
          <a:p>
            <a:r>
              <a:rPr lang="id-ID"/>
              <a:t>Analisis lanjutan yang bisa langsung dikerjakan dengan data yang sudah ada: repeat rate per kategori pembelian pertama (Insight 2), komposisi kategori per desil (Insight 3), dan ongkir per item pada order satu item vs banyak item (Insight 4).</a:t>
            </a:r>
          </a:p>
          <a:p>
            <a:r>
              <a:rPr lang="id-ID"/>
              <a:t>Data yang dibutuhkan: cost dan komisi (untuk menghitung biaya voucher dan subsidi), histori promo, lokasi seller, serta berat dan dimensi produk (ada di file mentah, belum dimodelkan).</a:t>
            </a:r>
          </a:p>
          <a:p>
            <a:r>
              <a:rPr lang="id-ID"/>
              <a:t>Keterbatasan lain: dokumentasi dataset tidak menjelaskan apakah isinya seluruh transaksi atau sampel, jadi volume absolut sebaiknya tidak dibaca sebagai ukuran pasar.</a:t>
            </a:r>
          </a:p>
          <a:p>
            <a:r>
              <a:rPr lang="id-ID"/>
              <a:t>Semua query, angka pendukung, dan dashboard bisa dibuka lewat link di slide ini.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pp.powerbi.com/view?r=eyJrIjoiNWQ3ZjljMjgtZmRjZS00YjhjLWI2ZjctZGViNmIxNTJiMTJiIiwidCI6IjM0ODViOTYzLTgyYmEtNGE2Zi04MTBmLWI1Y2MyMjZmZjg5OCIsImMiOjEwfQ%3D%3D" TargetMode="External"/><Relationship Id="rId3" Type="http://schemas.openxmlformats.org/officeDocument/2006/relationships/hyperlink" Target="https://github.com/justinchristroper-arch/nusamart-ecommerce-analytics" TargetMode="External"/><Relationship Id="rId4"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aksen_kiri"/>
          <p:cNvSpPr/>
          <p:nvPr/>
        </p:nvSpPr>
        <p:spPr>
          <a:xfrm>
            <a:off x="0" y="0"/>
            <a:ext cx="164592" cy="6858000"/>
          </a:xfrm>
          <a:prstGeom prst="rect">
            <a:avLst/>
          </a:prstGeom>
          <a:solidFill>
            <a:srgbClr val="11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822960" y="685800"/>
            <a:ext cx="10515600" cy="320040"/>
          </a:xfrm>
          <a:prstGeom prst="rect">
            <a:avLst/>
          </a:prstGeom>
          <a:noFill/>
        </p:spPr>
        <p:txBody>
          <a:bodyPr wrap="square" lIns="0" rIns="0" tIns="0" bIns="0" anchor="t">
            <a:noAutofit/>
          </a:bodyPr>
          <a:lstStyle/>
          <a:p>
            <a:pPr algn="l">
              <a:spcAft>
                <a:spcPts val="0"/>
              </a:spcAft>
            </a:pPr>
            <a:r>
              <a:rPr sz="1200" i="0" lang="id-ID">
                <a:solidFill>
                  <a:srgbClr val="118DFF"/>
                </a:solidFill>
                <a:latin typeface="Segoe UI Semibold"/>
              </a:rPr>
              <a:t>EXECUTIVE SUMMARY · UNTUK MANAJEMEN NUSAMART</a:t>
            </a:r>
          </a:p>
        </p:txBody>
      </p:sp>
      <p:sp>
        <p:nvSpPr>
          <p:cNvPr id="4" name="judul"/>
          <p:cNvSpPr txBox="1"/>
          <p:nvPr/>
        </p:nvSpPr>
        <p:spPr>
          <a:xfrm>
            <a:off x="822960" y="1024128"/>
            <a:ext cx="10515600" cy="822960"/>
          </a:xfrm>
          <a:prstGeom prst="rect">
            <a:avLst/>
          </a:prstGeom>
          <a:noFill/>
        </p:spPr>
        <p:txBody>
          <a:bodyPr wrap="square" lIns="0" rIns="0" tIns="0" bIns="0" anchor="t">
            <a:noAutofit/>
          </a:bodyPr>
          <a:lstStyle/>
          <a:p>
            <a:pPr algn="l">
              <a:spcAft>
                <a:spcPts val="0"/>
              </a:spcAft>
            </a:pPr>
            <a:r>
              <a:rPr sz="4000" i="0" lang="id-ID">
                <a:solidFill>
                  <a:srgbClr val="1F2328"/>
                </a:solidFill>
                <a:latin typeface="Segoe UI Semibold"/>
              </a:rPr>
              <a:t>Penjualan &amp; customer NusaMart</a:t>
            </a:r>
          </a:p>
        </p:txBody>
      </p:sp>
      <p:sp>
        <p:nvSpPr>
          <p:cNvPr id="5" name="subjudul"/>
          <p:cNvSpPr txBox="1"/>
          <p:nvPr/>
        </p:nvSpPr>
        <p:spPr>
          <a:xfrm>
            <a:off x="822960" y="1874519"/>
            <a:ext cx="10515600" cy="365760"/>
          </a:xfrm>
          <a:prstGeom prst="rect">
            <a:avLst/>
          </a:prstGeom>
          <a:noFill/>
        </p:spPr>
        <p:txBody>
          <a:bodyPr wrap="square" lIns="0" rIns="0" tIns="0" bIns="0" anchor="t">
            <a:noAutofit/>
          </a:bodyPr>
          <a:lstStyle/>
          <a:p>
            <a:pPr algn="l">
              <a:spcAft>
                <a:spcPts val="0"/>
              </a:spcAft>
            </a:pPr>
            <a:r>
              <a:rPr sz="1600" i="0" lang="id-ID">
                <a:solidFill>
                  <a:srgbClr val="5F6B7A"/>
                </a:solidFill>
                <a:latin typeface="Segoe UI"/>
              </a:rPr>
              <a:t>Temuan utama dan rekomendasi · jendela analisis Jan 2017 – Jul 2018 · order delivered</a:t>
            </a:r>
          </a:p>
        </p:txBody>
      </p:sp>
      <p:sp>
        <p:nvSpPr>
          <p:cNvPr id="6" name="penyusun"/>
          <p:cNvSpPr txBox="1"/>
          <p:nvPr/>
        </p:nvSpPr>
        <p:spPr>
          <a:xfrm>
            <a:off x="822960" y="2331720"/>
            <a:ext cx="10515600" cy="320040"/>
          </a:xfrm>
          <a:prstGeom prst="rect">
            <a:avLst/>
          </a:prstGeom>
          <a:noFill/>
        </p:spPr>
        <p:txBody>
          <a:bodyPr wrap="square" lIns="0" rIns="0" tIns="0" bIns="0" anchor="t">
            <a:noAutofit/>
          </a:bodyPr>
          <a:lstStyle/>
          <a:p>
            <a:pPr algn="l">
              <a:spcAft>
                <a:spcPts val="0"/>
              </a:spcAft>
            </a:pPr>
            <a:r>
              <a:rPr sz="1400" i="0" lang="id-ID">
                <a:solidFill>
                  <a:srgbClr val="5F6B7A"/>
                </a:solidFill>
                <a:latin typeface="Segoe UI"/>
              </a:rPr>
              <a:t>Disusun oleh </a:t>
            </a:r>
            <a:r>
              <a:rPr sz="1400" i="0" lang="id-ID">
                <a:solidFill>
                  <a:srgbClr val="1F2328"/>
                </a:solidFill>
                <a:latin typeface="Segoe UI Semibold"/>
              </a:rPr>
              <a:t>Justin Christroper</a:t>
            </a:r>
            <a:r>
              <a:rPr sz="1400" i="0" lang="id-ID">
                <a:solidFill>
                  <a:srgbClr val="5F6B7A"/>
                </a:solidFill>
                <a:latin typeface="Segoe UI"/>
              </a:rPr>
              <a:t> · September 2026</a:t>
            </a:r>
          </a:p>
        </p:txBody>
      </p:sp>
      <p:sp>
        <p:nvSpPr>
          <p:cNvPr id="7" name="bg_kpi_1"/>
          <p:cNvSpPr/>
          <p:nvPr/>
        </p:nvSpPr>
        <p:spPr>
          <a:xfrm>
            <a:off x="822960" y="3017520"/>
            <a:ext cx="3337560" cy="146304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kpi_1"/>
          <p:cNvSpPr txBox="1"/>
          <p:nvPr/>
        </p:nvSpPr>
        <p:spPr>
          <a:xfrm>
            <a:off x="1097280" y="3154680"/>
            <a:ext cx="2788920" cy="1188720"/>
          </a:xfrm>
          <a:prstGeom prst="rect">
            <a:avLst/>
          </a:prstGeom>
          <a:noFill/>
        </p:spPr>
        <p:txBody>
          <a:bodyPr wrap="square" lIns="0" rIns="0" tIns="0" bIns="0" anchor="ctr">
            <a:noAutofit/>
          </a:bodyPr>
          <a:lstStyle/>
          <a:p>
            <a:pPr algn="l">
              <a:spcAft>
                <a:spcPts val="600"/>
              </a:spcAft>
            </a:pPr>
            <a:r>
              <a:rPr sz="1200" i="0" lang="id-ID">
                <a:solidFill>
                  <a:srgbClr val="5F6B7A"/>
                </a:solidFill>
                <a:latin typeface="Segoe UI"/>
              </a:rPr>
              <a:t>Revenue · tanpa ongkir</a:t>
            </a:r>
          </a:p>
          <a:p>
            <a:pPr algn="l">
              <a:spcAft>
                <a:spcPts val="0"/>
              </a:spcAft>
            </a:pPr>
            <a:r>
              <a:rPr sz="3200" i="0" lang="id-ID">
                <a:solidFill>
                  <a:srgbClr val="1F2328"/>
                </a:solidFill>
                <a:latin typeface="Segoe UI Semibold"/>
              </a:rPr>
              <a:t>R$ 12,34 juta</a:t>
            </a:r>
          </a:p>
        </p:txBody>
      </p:sp>
      <p:sp>
        <p:nvSpPr>
          <p:cNvPr id="9" name="bg_kpi_2"/>
          <p:cNvSpPr/>
          <p:nvPr/>
        </p:nvSpPr>
        <p:spPr>
          <a:xfrm>
            <a:off x="4434840" y="3017520"/>
            <a:ext cx="3337560" cy="146304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kpi_2"/>
          <p:cNvSpPr txBox="1"/>
          <p:nvPr/>
        </p:nvSpPr>
        <p:spPr>
          <a:xfrm>
            <a:off x="4709160" y="3154680"/>
            <a:ext cx="2788920" cy="1188720"/>
          </a:xfrm>
          <a:prstGeom prst="rect">
            <a:avLst/>
          </a:prstGeom>
          <a:noFill/>
        </p:spPr>
        <p:txBody>
          <a:bodyPr wrap="square" lIns="0" rIns="0" tIns="0" bIns="0" anchor="ctr">
            <a:noAutofit/>
          </a:bodyPr>
          <a:lstStyle/>
          <a:p>
            <a:pPr algn="l">
              <a:spcAft>
                <a:spcPts val="600"/>
              </a:spcAft>
            </a:pPr>
            <a:r>
              <a:rPr sz="1200" i="0" lang="id-ID">
                <a:solidFill>
                  <a:srgbClr val="5F6B7A"/>
                </a:solidFill>
                <a:latin typeface="Segoe UI"/>
              </a:rPr>
              <a:t>Order delivered</a:t>
            </a:r>
          </a:p>
          <a:p>
            <a:pPr algn="l">
              <a:spcAft>
                <a:spcPts val="0"/>
              </a:spcAft>
            </a:pPr>
            <a:r>
              <a:rPr sz="3200" i="0" lang="id-ID">
                <a:solidFill>
                  <a:srgbClr val="1F2328"/>
                </a:solidFill>
                <a:latin typeface="Segoe UI Semibold"/>
              </a:rPr>
              <a:t>89.860</a:t>
            </a:r>
          </a:p>
        </p:txBody>
      </p:sp>
      <p:sp>
        <p:nvSpPr>
          <p:cNvPr id="11" name="bg_kpi_3"/>
          <p:cNvSpPr/>
          <p:nvPr/>
        </p:nvSpPr>
        <p:spPr>
          <a:xfrm>
            <a:off x="8046720" y="3017520"/>
            <a:ext cx="3337560" cy="146304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kpi_3"/>
          <p:cNvSpPr txBox="1"/>
          <p:nvPr/>
        </p:nvSpPr>
        <p:spPr>
          <a:xfrm>
            <a:off x="8321040" y="3154680"/>
            <a:ext cx="2788920" cy="1188720"/>
          </a:xfrm>
          <a:prstGeom prst="rect">
            <a:avLst/>
          </a:prstGeom>
          <a:noFill/>
        </p:spPr>
        <p:txBody>
          <a:bodyPr wrap="square" lIns="0" rIns="0" tIns="0" bIns="0" anchor="ctr">
            <a:noAutofit/>
          </a:bodyPr>
          <a:lstStyle/>
          <a:p>
            <a:pPr algn="l">
              <a:spcAft>
                <a:spcPts val="600"/>
              </a:spcAft>
            </a:pPr>
            <a:r>
              <a:rPr sz="1200" i="0" lang="id-ID">
                <a:solidFill>
                  <a:srgbClr val="5F6B7A"/>
                </a:solidFill>
                <a:latin typeface="Segoe UI"/>
              </a:rPr>
              <a:t>Customer unik</a:t>
            </a:r>
          </a:p>
          <a:p>
            <a:pPr algn="l">
              <a:spcAft>
                <a:spcPts val="0"/>
              </a:spcAft>
            </a:pPr>
            <a:r>
              <a:rPr sz="3200" i="0" lang="id-ID">
                <a:solidFill>
                  <a:srgbClr val="1F2328"/>
                </a:solidFill>
                <a:latin typeface="Segoe UI Semibold"/>
              </a:rPr>
              <a:t>86.960</a:t>
            </a:r>
          </a:p>
        </p:txBody>
      </p:sp>
      <p:sp>
        <p:nvSpPr>
          <p:cNvPr id="13" name="rekonsiliasi"/>
          <p:cNvSpPr txBox="1"/>
          <p:nvPr/>
        </p:nvSpPr>
        <p:spPr>
          <a:xfrm>
            <a:off x="822960" y="4846320"/>
            <a:ext cx="10515600" cy="365760"/>
          </a:xfrm>
          <a:prstGeom prst="rect">
            <a:avLst/>
          </a:prstGeom>
          <a:noFill/>
        </p:spPr>
        <p:txBody>
          <a:bodyPr wrap="square" lIns="0" rIns="0" tIns="0" bIns="0" anchor="t">
            <a:noAutofit/>
          </a:bodyPr>
          <a:lstStyle/>
          <a:p>
            <a:pPr algn="l">
              <a:spcAft>
                <a:spcPts val="0"/>
              </a:spcAft>
            </a:pPr>
            <a:r>
              <a:rPr sz="1400" i="0" lang="id-ID">
                <a:solidFill>
                  <a:srgbClr val="118DFF"/>
                </a:solidFill>
                <a:latin typeface="Segoe UI Symbol"/>
              </a:rPr>
              <a:t>✓  </a:t>
            </a:r>
            <a:r>
              <a:rPr sz="1400" i="0" lang="id-ID">
                <a:solidFill>
                  <a:srgbClr val="1F2328"/>
                </a:solidFill>
                <a:latin typeface="Segoe UI"/>
              </a:rPr>
              <a:t>KPI di notebook (Python), SQL (PostgreSQL), dan dashboard Power BI sudah direkonsiliasi dan identik.</a:t>
            </a:r>
          </a:p>
        </p:txBody>
      </p:sp>
      <p:cxnSp>
        <p:nvCxnSpPr>
          <p:cNvPr id="14" name="garis_footer"/>
          <p:cNvCxnSpPr/>
          <p:nvPr/>
        </p:nvCxnSpPr>
        <p:spPr>
          <a:xfrm>
            <a:off x="548640" y="6199632"/>
            <a:ext cx="11091672" cy="0"/>
          </a:xfrm>
          <a:prstGeom prst="line">
            <a:avLst/>
          </a:prstGeom>
          <a:ln w="9525">
            <a:solidFill>
              <a:srgbClr val="D0D7DE"/>
            </a:solidFill>
          </a:ln>
          <a:effectLst/>
        </p:spPr>
        <p:style>
          <a:lnRef idx="2">
            <a:schemeClr val="accent1"/>
          </a:lnRef>
          <a:fillRef idx="0">
            <a:schemeClr val="accent1"/>
          </a:fillRef>
          <a:effectRef idx="1">
            <a:schemeClr val="accent1"/>
          </a:effectRef>
          <a:fontRef idx="minor">
            <a:schemeClr val="tx1"/>
          </a:fontRef>
        </p:style>
      </p:cxnSp>
      <p:sp>
        <p:nvSpPr>
          <p:cNvPr id="15" name="footer_sumber"/>
          <p:cNvSpPr txBox="1"/>
          <p:nvPr/>
        </p:nvSpPr>
        <p:spPr>
          <a:xfrm>
            <a:off x="548640" y="6272784"/>
            <a:ext cx="10241280" cy="457200"/>
          </a:xfrm>
          <a:prstGeom prst="rect">
            <a:avLst/>
          </a:prstGeom>
          <a:noFill/>
        </p:spPr>
        <p:txBody>
          <a:bodyPr wrap="square" lIns="0" rIns="0" tIns="0" bIns="0" anchor="t">
            <a:noAutofit/>
          </a:bodyPr>
          <a:lstStyle/>
          <a:p>
            <a:pPr algn="l">
              <a:spcAft>
                <a:spcPts val="0"/>
              </a:spcAft>
            </a:pPr>
            <a:r>
              <a:rPr sz="900" i="0" lang="id-ID">
                <a:solidFill>
                  <a:srgbClr val="5F6B7A"/>
                </a:solidFill>
                <a:latin typeface="Segoe UI"/>
              </a:rPr>
              <a:t>NusaMart adalah nama fiktif. Data: Brazilian E-Commerce Public Dataset by Olist (Kaggle), lisensi CC BY-NC-SA 4.0; wilayah asli (state Brasil) dipertahankan, mata uang Real Brasil (R$). Revenue = Σ harga barang pada order delivered. Sumber angka: results/05_kpi_total_filtered.csv</a:t>
            </a:r>
          </a:p>
        </p:txBody>
      </p:sp>
      <p:sp>
        <p:nvSpPr>
          <p:cNvPr id="16" name="footer_halaman"/>
          <p:cNvSpPr txBox="1"/>
          <p:nvPr/>
        </p:nvSpPr>
        <p:spPr>
          <a:xfrm>
            <a:off x="10908792" y="6272784"/>
            <a:ext cx="731520" cy="182880"/>
          </a:xfrm>
          <a:prstGeom prst="rect">
            <a:avLst/>
          </a:prstGeom>
          <a:noFill/>
        </p:spPr>
        <p:txBody>
          <a:bodyPr wrap="square" lIns="0" rIns="0" tIns="0" bIns="0" anchor="t">
            <a:noAutofit/>
          </a:bodyPr>
          <a:lstStyle/>
          <a:p>
            <a:pPr algn="r">
              <a:spcAft>
                <a:spcPts val="0"/>
              </a:spcAft>
            </a:pPr>
            <a:r>
              <a:rPr sz="900" i="0" lang="id-ID">
                <a:solidFill>
                  <a:srgbClr val="5F6B7A"/>
                </a:solidFill>
                <a:latin typeface="Segoe UI"/>
              </a:rPr>
              <a:t>1 / 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84048"/>
            <a:ext cx="11091672" cy="274320"/>
          </a:xfrm>
          <a:prstGeom prst="rect">
            <a:avLst/>
          </a:prstGeom>
          <a:noFill/>
        </p:spPr>
        <p:txBody>
          <a:bodyPr wrap="square" lIns="0" rIns="0" tIns="0" bIns="0" anchor="t">
            <a:noAutofit/>
          </a:bodyPr>
          <a:lstStyle/>
          <a:p>
            <a:pPr algn="l">
              <a:spcAft>
                <a:spcPts val="0"/>
              </a:spcAft>
            </a:pPr>
            <a:r>
              <a:rPr sz="1100" i="0" lang="id-ID">
                <a:solidFill>
                  <a:srgbClr val="118DFF"/>
                </a:solidFill>
                <a:latin typeface="Segoe UI Semibold"/>
              </a:rPr>
              <a:t>MASALAH BISNIS</a:t>
            </a:r>
          </a:p>
        </p:txBody>
      </p:sp>
      <p:sp>
        <p:nvSpPr>
          <p:cNvPr id="3" name="judul"/>
          <p:cNvSpPr txBox="1"/>
          <p:nvPr/>
        </p:nvSpPr>
        <p:spPr>
          <a:xfrm>
            <a:off x="548640" y="658368"/>
            <a:ext cx="11091672" cy="914400"/>
          </a:xfrm>
          <a:prstGeom prst="rect">
            <a:avLst/>
          </a:prstGeom>
          <a:noFill/>
        </p:spPr>
        <p:txBody>
          <a:bodyPr wrap="square" lIns="0" rIns="0" tIns="0" bIns="0" anchor="t">
            <a:noAutofit/>
          </a:bodyPr>
          <a:lstStyle/>
          <a:p>
            <a:pPr algn="l">
              <a:lnSpc>
                <a:spcPct val="95000"/>
              </a:lnSpc>
              <a:spcAft>
                <a:spcPts val="0"/>
              </a:spcAft>
            </a:pPr>
            <a:r>
              <a:rPr sz="2600" i="0" lang="id-ID">
                <a:solidFill>
                  <a:srgbClr val="1F2328"/>
                </a:solidFill>
                <a:latin typeface="Segoe UI Semibold"/>
              </a:rPr>
              <a:t>Empat pertanyaan dasar manajemen — dan jawaban singkatnya dari data</a:t>
            </a:r>
          </a:p>
        </p:txBody>
      </p:sp>
      <p:sp>
        <p:nvSpPr>
          <p:cNvPr id="4" name="bg_konteks"/>
          <p:cNvSpPr/>
          <p:nvPr/>
        </p:nvSpPr>
        <p:spPr>
          <a:xfrm>
            <a:off x="548640" y="1691640"/>
            <a:ext cx="11091672" cy="914400"/>
          </a:xfrm>
          <a:prstGeom prst="rect">
            <a:avLst/>
          </a:prstGeom>
          <a:noFill/>
          <a:ln w="12700">
            <a:solidFill>
              <a:srgbClr val="8C959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konteks"/>
          <p:cNvSpPr txBox="1"/>
          <p:nvPr/>
        </p:nvSpPr>
        <p:spPr>
          <a:xfrm>
            <a:off x="822960" y="1810512"/>
            <a:ext cx="10607040" cy="713232"/>
          </a:xfrm>
          <a:prstGeom prst="rect">
            <a:avLst/>
          </a:prstGeom>
          <a:noFill/>
        </p:spPr>
        <p:txBody>
          <a:bodyPr wrap="square" lIns="0" rIns="0" tIns="0" bIns="0" anchor="t">
            <a:noAutofit/>
          </a:bodyPr>
          <a:lstStyle/>
          <a:p>
            <a:pPr algn="l">
              <a:spcAft>
                <a:spcPts val="400"/>
              </a:spcAft>
            </a:pPr>
            <a:r>
              <a:rPr sz="1000" i="0" lang="id-ID">
                <a:solidFill>
                  <a:srgbClr val="5F6B7A"/>
                </a:solidFill>
                <a:latin typeface="Segoe UI Semibold"/>
              </a:rPr>
              <a:t>KONTEKS KASUS · SKENARIO, BUKAN TEMUAN DATA</a:t>
            </a:r>
          </a:p>
          <a:p>
            <a:pPr algn="l">
              <a:spcAft>
                <a:spcPts val="0"/>
              </a:spcAft>
            </a:pPr>
            <a:r>
              <a:rPr sz="1400" i="1" lang="id-ID">
                <a:solidFill>
                  <a:srgbClr val="1F2328"/>
                </a:solidFill>
                <a:latin typeface="Segoe UI"/>
              </a:rPr>
              <a:t>NusaMart (marketplace fiktif) memiliki data transaksi dalam jumlah besar, tetapi manajemen belum dapat menjawab pertanyaan dasar secara konsisten.</a:t>
            </a:r>
          </a:p>
        </p:txBody>
      </p:sp>
      <p:sp>
        <p:nvSpPr>
          <p:cNvPr id="6" name="kolom_pertanyaan"/>
          <p:cNvSpPr txBox="1"/>
          <p:nvPr/>
        </p:nvSpPr>
        <p:spPr>
          <a:xfrm>
            <a:off x="548640" y="2807208"/>
            <a:ext cx="3657600" cy="228600"/>
          </a:xfrm>
          <a:prstGeom prst="rect">
            <a:avLst/>
          </a:prstGeom>
          <a:noFill/>
        </p:spPr>
        <p:txBody>
          <a:bodyPr wrap="square" lIns="0" rIns="0" tIns="0" bIns="0" anchor="t">
            <a:noAutofit/>
          </a:bodyPr>
          <a:lstStyle/>
          <a:p>
            <a:pPr algn="l">
              <a:spcAft>
                <a:spcPts val="0"/>
              </a:spcAft>
            </a:pPr>
            <a:r>
              <a:rPr sz="1000" i="0" lang="id-ID">
                <a:solidFill>
                  <a:srgbClr val="5F6B7A"/>
                </a:solidFill>
                <a:latin typeface="Segoe UI Semibold"/>
              </a:rPr>
              <a:t>PERTANYAAN MANAJEMEN</a:t>
            </a:r>
          </a:p>
        </p:txBody>
      </p:sp>
      <p:sp>
        <p:nvSpPr>
          <p:cNvPr id="7" name="kolom_jawaban"/>
          <p:cNvSpPr txBox="1"/>
          <p:nvPr/>
        </p:nvSpPr>
        <p:spPr>
          <a:xfrm>
            <a:off x="4480560" y="2807208"/>
            <a:ext cx="7159752" cy="228600"/>
          </a:xfrm>
          <a:prstGeom prst="rect">
            <a:avLst/>
          </a:prstGeom>
          <a:noFill/>
        </p:spPr>
        <p:txBody>
          <a:bodyPr wrap="square" lIns="0" rIns="0" tIns="0" bIns="0" anchor="t">
            <a:noAutofit/>
          </a:bodyPr>
          <a:lstStyle/>
          <a:p>
            <a:pPr algn="l">
              <a:spcAft>
                <a:spcPts val="0"/>
              </a:spcAft>
            </a:pPr>
            <a:r>
              <a:rPr sz="1000" i="0" lang="id-ID">
                <a:solidFill>
                  <a:srgbClr val="118DFF"/>
                </a:solidFill>
                <a:latin typeface="Segoe UI Semibold"/>
              </a:rPr>
              <a:t>JAWABAN DARI DATA</a:t>
            </a:r>
          </a:p>
        </p:txBody>
      </p:sp>
      <p:cxnSp>
        <p:nvCxnSpPr>
          <p:cNvPr id="8" name="garis_baris_1"/>
          <p:cNvCxnSpPr/>
          <p:nvPr/>
        </p:nvCxnSpPr>
        <p:spPr>
          <a:xfrm>
            <a:off x="548640" y="3127248"/>
            <a:ext cx="11091672" cy="0"/>
          </a:xfrm>
          <a:prstGeom prst="line">
            <a:avLst/>
          </a:prstGeom>
          <a:ln w="9525">
            <a:solidFill>
              <a:srgbClr val="D0D7DE"/>
            </a:solidFill>
          </a:ln>
          <a:effectLst/>
        </p:spPr>
        <p:style>
          <a:lnRef idx="2">
            <a:schemeClr val="accent1"/>
          </a:lnRef>
          <a:fillRef idx="0">
            <a:schemeClr val="accent1"/>
          </a:fillRef>
          <a:effectRef idx="1">
            <a:schemeClr val="accent1"/>
          </a:effectRef>
          <a:fontRef idx="minor">
            <a:schemeClr val="tx1"/>
          </a:fontRef>
        </p:style>
      </p:cxnSp>
      <p:sp>
        <p:nvSpPr>
          <p:cNvPr id="9" name="pertanyaan_1"/>
          <p:cNvSpPr txBox="1"/>
          <p:nvPr/>
        </p:nvSpPr>
        <p:spPr>
          <a:xfrm>
            <a:off x="548640" y="3236976"/>
            <a:ext cx="3657600" cy="566928"/>
          </a:xfrm>
          <a:prstGeom prst="rect">
            <a:avLst/>
          </a:prstGeom>
          <a:noFill/>
        </p:spPr>
        <p:txBody>
          <a:bodyPr wrap="square" lIns="0" rIns="0" tIns="0" bIns="0" anchor="t">
            <a:noAutofit/>
          </a:bodyPr>
          <a:lstStyle/>
          <a:p>
            <a:pPr algn="l">
              <a:spcAft>
                <a:spcPts val="0"/>
              </a:spcAft>
            </a:pPr>
            <a:r>
              <a:rPr sz="1500" i="0" lang="id-ID">
                <a:solidFill>
                  <a:srgbClr val="1F2328"/>
                </a:solidFill>
                <a:latin typeface="Segoe UI Semibold"/>
              </a:rPr>
              <a:t>Dari mana pertumbuhan berasal?</a:t>
            </a:r>
          </a:p>
        </p:txBody>
      </p:sp>
      <p:sp>
        <p:nvSpPr>
          <p:cNvPr id="10" name="jawaban_1"/>
          <p:cNvSpPr txBox="1"/>
          <p:nvPr/>
        </p:nvSpPr>
        <p:spPr>
          <a:xfrm>
            <a:off x="4480560" y="3236976"/>
            <a:ext cx="7159752" cy="566928"/>
          </a:xfrm>
          <a:prstGeom prst="rect">
            <a:avLst/>
          </a:prstGeom>
          <a:noFill/>
        </p:spPr>
        <p:txBody>
          <a:bodyPr wrap="square" lIns="0" rIns="0" tIns="0" bIns="0" anchor="t">
            <a:noAutofit/>
          </a:bodyPr>
          <a:lstStyle/>
          <a:p>
            <a:pPr algn="l">
              <a:spcAft>
                <a:spcPts val="0"/>
              </a:spcAft>
            </a:pPr>
            <a:r>
              <a:rPr sz="1400" i="0" lang="id-ID">
                <a:solidFill>
                  <a:srgbClr val="1F2328"/>
                </a:solidFill>
                <a:latin typeface="Segoe UI"/>
              </a:rPr>
              <a:t>Dari bertambahnya order dan customer: pada Jan–Jul, revenue 2018 naik 161,6% dibanding 2017, sedangkan nilai per order hanya +0,3%.</a:t>
            </a:r>
          </a:p>
        </p:txBody>
      </p:sp>
      <p:cxnSp>
        <p:nvCxnSpPr>
          <p:cNvPr id="11" name="garis_baris_2"/>
          <p:cNvCxnSpPr/>
          <p:nvPr/>
        </p:nvCxnSpPr>
        <p:spPr>
          <a:xfrm>
            <a:off x="548640" y="3858768"/>
            <a:ext cx="11091672" cy="0"/>
          </a:xfrm>
          <a:prstGeom prst="line">
            <a:avLst/>
          </a:prstGeom>
          <a:ln w="9525">
            <a:solidFill>
              <a:srgbClr val="D0D7DE"/>
            </a:solidFill>
          </a:ln>
          <a:effectLst/>
        </p:spPr>
        <p:style>
          <a:lnRef idx="2">
            <a:schemeClr val="accent1"/>
          </a:lnRef>
          <a:fillRef idx="0">
            <a:schemeClr val="accent1"/>
          </a:fillRef>
          <a:effectRef idx="1">
            <a:schemeClr val="accent1"/>
          </a:effectRef>
          <a:fontRef idx="minor">
            <a:schemeClr val="tx1"/>
          </a:fontRef>
        </p:style>
      </p:cxnSp>
      <p:sp>
        <p:nvSpPr>
          <p:cNvPr id="12" name="pertanyaan_2"/>
          <p:cNvSpPr txBox="1"/>
          <p:nvPr/>
        </p:nvSpPr>
        <p:spPr>
          <a:xfrm>
            <a:off x="548640" y="3968496"/>
            <a:ext cx="3657600" cy="566928"/>
          </a:xfrm>
          <a:prstGeom prst="rect">
            <a:avLst/>
          </a:prstGeom>
          <a:noFill/>
        </p:spPr>
        <p:txBody>
          <a:bodyPr wrap="square" lIns="0" rIns="0" tIns="0" bIns="0" anchor="t">
            <a:noAutofit/>
          </a:bodyPr>
          <a:lstStyle/>
          <a:p>
            <a:pPr algn="l">
              <a:spcAft>
                <a:spcPts val="0"/>
              </a:spcAft>
            </a:pPr>
            <a:r>
              <a:rPr sz="1500" i="0" lang="id-ID">
                <a:solidFill>
                  <a:srgbClr val="1F2328"/>
                </a:solidFill>
                <a:latin typeface="Segoe UI Semibold"/>
              </a:rPr>
              <a:t>Seberapa loyal customer?</a:t>
            </a:r>
          </a:p>
        </p:txBody>
      </p:sp>
      <p:sp>
        <p:nvSpPr>
          <p:cNvPr id="13" name="jawaban_2"/>
          <p:cNvSpPr txBox="1"/>
          <p:nvPr/>
        </p:nvSpPr>
        <p:spPr>
          <a:xfrm>
            <a:off x="4480560" y="3968496"/>
            <a:ext cx="7159752" cy="566928"/>
          </a:xfrm>
          <a:prstGeom prst="rect">
            <a:avLst/>
          </a:prstGeom>
          <a:noFill/>
        </p:spPr>
        <p:txBody>
          <a:bodyPr wrap="square" lIns="0" rIns="0" tIns="0" bIns="0" anchor="t">
            <a:noAutofit/>
          </a:bodyPr>
          <a:lstStyle/>
          <a:p>
            <a:pPr algn="l">
              <a:spcAft>
                <a:spcPts val="0"/>
              </a:spcAft>
            </a:pPr>
            <a:r>
              <a:rPr sz="1400" i="0" lang="id-ID">
                <a:solidFill>
                  <a:srgbClr val="1F2328"/>
                </a:solidFill>
                <a:latin typeface="Segoe UI"/>
              </a:rPr>
              <a:t>Sangat rendah: 97,0% customer hanya belanja sekali — termasuk customer dengan belanja terbesar.</a:t>
            </a:r>
          </a:p>
        </p:txBody>
      </p:sp>
      <p:cxnSp>
        <p:nvCxnSpPr>
          <p:cNvPr id="14" name="garis_baris_3"/>
          <p:cNvCxnSpPr/>
          <p:nvPr/>
        </p:nvCxnSpPr>
        <p:spPr>
          <a:xfrm>
            <a:off x="548640" y="4590288"/>
            <a:ext cx="11091672" cy="0"/>
          </a:xfrm>
          <a:prstGeom prst="line">
            <a:avLst/>
          </a:prstGeom>
          <a:ln w="9525">
            <a:solidFill>
              <a:srgbClr val="D0D7DE"/>
            </a:solidFill>
          </a:ln>
          <a:effectLst/>
        </p:spPr>
        <p:style>
          <a:lnRef idx="2">
            <a:schemeClr val="accent1"/>
          </a:lnRef>
          <a:fillRef idx="0">
            <a:schemeClr val="accent1"/>
          </a:fillRef>
          <a:effectRef idx="1">
            <a:schemeClr val="accent1"/>
          </a:effectRef>
          <a:fontRef idx="minor">
            <a:schemeClr val="tx1"/>
          </a:fontRef>
        </p:style>
      </p:cxnSp>
      <p:sp>
        <p:nvSpPr>
          <p:cNvPr id="15" name="pertanyaan_3"/>
          <p:cNvSpPr txBox="1"/>
          <p:nvPr/>
        </p:nvSpPr>
        <p:spPr>
          <a:xfrm>
            <a:off x="548640" y="4700016"/>
            <a:ext cx="3657600" cy="566928"/>
          </a:xfrm>
          <a:prstGeom prst="rect">
            <a:avLst/>
          </a:prstGeom>
          <a:noFill/>
        </p:spPr>
        <p:txBody>
          <a:bodyPr wrap="square" lIns="0" rIns="0" tIns="0" bIns="0" anchor="t">
            <a:noAutofit/>
          </a:bodyPr>
          <a:lstStyle/>
          <a:p>
            <a:pPr algn="l">
              <a:spcAft>
                <a:spcPts val="0"/>
              </a:spcAft>
            </a:pPr>
            <a:r>
              <a:rPr sz="1500" i="0" lang="id-ID">
                <a:solidFill>
                  <a:srgbClr val="1F2328"/>
                </a:solidFill>
                <a:latin typeface="Segoe UI Semibold"/>
              </a:rPr>
              <a:t>Di mana beban ongkir paling berat?</a:t>
            </a:r>
          </a:p>
        </p:txBody>
      </p:sp>
      <p:sp>
        <p:nvSpPr>
          <p:cNvPr id="16" name="jawaban_3"/>
          <p:cNvSpPr txBox="1"/>
          <p:nvPr/>
        </p:nvSpPr>
        <p:spPr>
          <a:xfrm>
            <a:off x="4480560" y="4700016"/>
            <a:ext cx="7159752" cy="566928"/>
          </a:xfrm>
          <a:prstGeom prst="rect">
            <a:avLst/>
          </a:prstGeom>
          <a:noFill/>
        </p:spPr>
        <p:txBody>
          <a:bodyPr wrap="square" lIns="0" rIns="0" tIns="0" bIns="0" anchor="t">
            <a:noAutofit/>
          </a:bodyPr>
          <a:lstStyle/>
          <a:p>
            <a:pPr algn="l">
              <a:spcAft>
                <a:spcPts val="0"/>
              </a:spcAft>
            </a:pPr>
            <a:r>
              <a:rPr sz="1400" i="0" lang="id-ID">
                <a:solidFill>
                  <a:srgbClr val="1F2328"/>
                </a:solidFill>
                <a:latin typeface="Segoe UI"/>
              </a:rPr>
              <a:t>Di luar São Paulo dan pada kategori barang murah. Ongkir dibayar customer, jadi bebannya dirasakan langsung oleh pembeli.</a:t>
            </a:r>
          </a:p>
        </p:txBody>
      </p:sp>
      <p:cxnSp>
        <p:nvCxnSpPr>
          <p:cNvPr id="17" name="garis_baris_4"/>
          <p:cNvCxnSpPr/>
          <p:nvPr/>
        </p:nvCxnSpPr>
        <p:spPr>
          <a:xfrm>
            <a:off x="548640" y="5321808"/>
            <a:ext cx="11091672" cy="0"/>
          </a:xfrm>
          <a:prstGeom prst="line">
            <a:avLst/>
          </a:prstGeom>
          <a:ln w="9525">
            <a:solidFill>
              <a:srgbClr val="D0D7DE"/>
            </a:solidFill>
          </a:ln>
          <a:effectLst/>
        </p:spPr>
        <p:style>
          <a:lnRef idx="2">
            <a:schemeClr val="accent1"/>
          </a:lnRef>
          <a:fillRef idx="0">
            <a:schemeClr val="accent1"/>
          </a:fillRef>
          <a:effectRef idx="1">
            <a:schemeClr val="accent1"/>
          </a:effectRef>
          <a:fontRef idx="minor">
            <a:schemeClr val="tx1"/>
          </a:fontRef>
        </p:style>
      </p:cxnSp>
      <p:sp>
        <p:nvSpPr>
          <p:cNvPr id="18" name="pertanyaan_4"/>
          <p:cNvSpPr txBox="1"/>
          <p:nvPr/>
        </p:nvSpPr>
        <p:spPr>
          <a:xfrm>
            <a:off x="548640" y="5431536"/>
            <a:ext cx="3657600" cy="566928"/>
          </a:xfrm>
          <a:prstGeom prst="rect">
            <a:avLst/>
          </a:prstGeom>
          <a:noFill/>
        </p:spPr>
        <p:txBody>
          <a:bodyPr wrap="square" lIns="0" rIns="0" tIns="0" bIns="0" anchor="t">
            <a:noAutofit/>
          </a:bodyPr>
          <a:lstStyle/>
          <a:p>
            <a:pPr algn="l">
              <a:spcAft>
                <a:spcPts val="0"/>
              </a:spcAft>
            </a:pPr>
            <a:r>
              <a:rPr sz="1500" i="0" lang="id-ID">
                <a:solidFill>
                  <a:srgbClr val="1F2328"/>
                </a:solidFill>
                <a:latin typeface="Segoe UI Semibold"/>
              </a:rPr>
              <a:t>Kategori mana yang bergeser?</a:t>
            </a:r>
          </a:p>
        </p:txBody>
      </p:sp>
      <p:sp>
        <p:nvSpPr>
          <p:cNvPr id="19" name="jawaban_4"/>
          <p:cNvSpPr txBox="1"/>
          <p:nvPr/>
        </p:nvSpPr>
        <p:spPr>
          <a:xfrm>
            <a:off x="4480560" y="5431536"/>
            <a:ext cx="7159752" cy="566928"/>
          </a:xfrm>
          <a:prstGeom prst="rect">
            <a:avLst/>
          </a:prstGeom>
          <a:noFill/>
        </p:spPr>
        <p:txBody>
          <a:bodyPr wrap="square" lIns="0" rIns="0" tIns="0" bIns="0" anchor="t">
            <a:noAutofit/>
          </a:bodyPr>
          <a:lstStyle/>
          <a:p>
            <a:pPr algn="l">
              <a:spcAft>
                <a:spcPts val="0"/>
              </a:spcAft>
            </a:pPr>
            <a:r>
              <a:rPr sz="1400" i="0" lang="id-ID">
                <a:solidFill>
                  <a:srgbClr val="1F2328"/>
                </a:solidFill>
                <a:latin typeface="Segoe UI"/>
              </a:rPr>
              <a:t>health_beauty dan watches_gifts naik ke dua peringkat teratas, sedangkan porsi cool_stuff turun lebih dari separuh.</a:t>
            </a:r>
          </a:p>
        </p:txBody>
      </p:sp>
      <p:cxnSp>
        <p:nvCxnSpPr>
          <p:cNvPr id="20" name="garis_footer"/>
          <p:cNvCxnSpPr/>
          <p:nvPr/>
        </p:nvCxnSpPr>
        <p:spPr>
          <a:xfrm>
            <a:off x="548640" y="6199632"/>
            <a:ext cx="11091672" cy="0"/>
          </a:xfrm>
          <a:prstGeom prst="line">
            <a:avLst/>
          </a:prstGeom>
          <a:ln w="9525">
            <a:solidFill>
              <a:srgbClr val="D0D7DE"/>
            </a:solidFill>
          </a:ln>
          <a:effectLst/>
        </p:spPr>
        <p:style>
          <a:lnRef idx="2">
            <a:schemeClr val="accent1"/>
          </a:lnRef>
          <a:fillRef idx="0">
            <a:schemeClr val="accent1"/>
          </a:fillRef>
          <a:effectRef idx="1">
            <a:schemeClr val="accent1"/>
          </a:effectRef>
          <a:fontRef idx="minor">
            <a:schemeClr val="tx1"/>
          </a:fontRef>
        </p:style>
      </p:cxnSp>
      <p:sp>
        <p:nvSpPr>
          <p:cNvPr id="21" name="footer_sumber"/>
          <p:cNvSpPr txBox="1"/>
          <p:nvPr/>
        </p:nvSpPr>
        <p:spPr>
          <a:xfrm>
            <a:off x="548640" y="6272784"/>
            <a:ext cx="10241280" cy="457200"/>
          </a:xfrm>
          <a:prstGeom prst="rect">
            <a:avLst/>
          </a:prstGeom>
          <a:noFill/>
        </p:spPr>
        <p:txBody>
          <a:bodyPr wrap="square" lIns="0" rIns="0" tIns="0" bIns="0" anchor="t">
            <a:noAutofit/>
          </a:bodyPr>
          <a:lstStyle/>
          <a:p>
            <a:pPr algn="l">
              <a:spcAft>
                <a:spcPts val="0"/>
              </a:spcAft>
            </a:pPr>
            <a:r>
              <a:rPr sz="900" i="0" lang="id-ID">
                <a:solidFill>
                  <a:srgbClr val="5F6B7A"/>
                </a:solidFill>
                <a:latin typeface="Segoe UI"/>
              </a:rPr>
              <a:t>Sumber: results/02_q1c_fair_period_comparison.csv (periode sebanding Jan–Jul), results/03_q4b_order_distribution.csv, results/02_q3_region.csv, results/04_q7_high_burden_categories.csv, results/02_q2c_category_fair_period.csv</a:t>
            </a:r>
          </a:p>
        </p:txBody>
      </p:sp>
      <p:sp>
        <p:nvSpPr>
          <p:cNvPr id="22" name="footer_halaman"/>
          <p:cNvSpPr txBox="1"/>
          <p:nvPr/>
        </p:nvSpPr>
        <p:spPr>
          <a:xfrm>
            <a:off x="10908792" y="6272784"/>
            <a:ext cx="731520" cy="182880"/>
          </a:xfrm>
          <a:prstGeom prst="rect">
            <a:avLst/>
          </a:prstGeom>
          <a:noFill/>
        </p:spPr>
        <p:txBody>
          <a:bodyPr wrap="square" lIns="0" rIns="0" tIns="0" bIns="0" anchor="t">
            <a:noAutofit/>
          </a:bodyPr>
          <a:lstStyle/>
          <a:p>
            <a:pPr algn="r">
              <a:spcAft>
                <a:spcPts val="0"/>
              </a:spcAft>
            </a:pPr>
            <a:r>
              <a:rPr sz="900" i="0" lang="id-ID">
                <a:solidFill>
                  <a:srgbClr val="5F6B7A"/>
                </a:solidFill>
                <a:latin typeface="Segoe UI"/>
              </a:rPr>
              <a:t>2 / 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84048"/>
            <a:ext cx="11091672" cy="274320"/>
          </a:xfrm>
          <a:prstGeom prst="rect">
            <a:avLst/>
          </a:prstGeom>
          <a:noFill/>
        </p:spPr>
        <p:txBody>
          <a:bodyPr wrap="square" lIns="0" rIns="0" tIns="0" bIns="0" anchor="t">
            <a:noAutofit/>
          </a:bodyPr>
          <a:lstStyle/>
          <a:p>
            <a:pPr algn="l">
              <a:spcAft>
                <a:spcPts val="0"/>
              </a:spcAft>
            </a:pPr>
            <a:r>
              <a:rPr sz="1100" i="0" lang="id-ID">
                <a:solidFill>
                  <a:srgbClr val="118DFF"/>
                </a:solidFill>
                <a:latin typeface="Segoe UI Semibold"/>
              </a:rPr>
              <a:t>TEMUAN 1 · PERTUMBUHAN</a:t>
            </a:r>
          </a:p>
        </p:txBody>
      </p:sp>
      <p:sp>
        <p:nvSpPr>
          <p:cNvPr id="3" name="judul"/>
          <p:cNvSpPr txBox="1"/>
          <p:nvPr/>
        </p:nvSpPr>
        <p:spPr>
          <a:xfrm>
            <a:off x="548640" y="658368"/>
            <a:ext cx="11091672" cy="914400"/>
          </a:xfrm>
          <a:prstGeom prst="rect">
            <a:avLst/>
          </a:prstGeom>
          <a:noFill/>
        </p:spPr>
        <p:txBody>
          <a:bodyPr wrap="square" lIns="0" rIns="0" tIns="0" bIns="0" anchor="t">
            <a:noAutofit/>
          </a:bodyPr>
          <a:lstStyle/>
          <a:p>
            <a:pPr algn="l">
              <a:lnSpc>
                <a:spcPct val="95000"/>
              </a:lnSpc>
              <a:spcAft>
                <a:spcPts val="0"/>
              </a:spcAft>
            </a:pPr>
            <a:r>
              <a:rPr sz="2600" i="0" lang="id-ID">
                <a:solidFill>
                  <a:srgbClr val="1F2328"/>
                </a:solidFill>
                <a:latin typeface="Segoe UI Semibold"/>
              </a:rPr>
              <a:t>Pertumbuhan datang dari volume — nilai per order hampir tidak naik</a:t>
            </a:r>
          </a:p>
        </p:txBody>
      </p:sp>
      <p:sp>
        <p:nvSpPr>
          <p:cNvPr id="4" name="judul_grafik"/>
          <p:cNvSpPr txBox="1"/>
          <p:nvPr/>
        </p:nvSpPr>
        <p:spPr>
          <a:xfrm>
            <a:off x="548640" y="1737360"/>
            <a:ext cx="6675120" cy="274320"/>
          </a:xfrm>
          <a:prstGeom prst="rect">
            <a:avLst/>
          </a:prstGeom>
          <a:noFill/>
        </p:spPr>
        <p:txBody>
          <a:bodyPr wrap="square" lIns="0" rIns="0" tIns="0" bIns="0" anchor="t">
            <a:noAutofit/>
          </a:bodyPr>
          <a:lstStyle/>
          <a:p>
            <a:pPr algn="l">
              <a:spcAft>
                <a:spcPts val="0"/>
              </a:spcAft>
            </a:pPr>
            <a:r>
              <a:rPr sz="1300" i="0" lang="id-ID">
                <a:solidFill>
                  <a:srgbClr val="1F2328"/>
                </a:solidFill>
                <a:latin typeface="Segoe UI Semibold"/>
              </a:rPr>
              <a:t>Perubahan Jan–Jul 2018 dibanding Jan–Jul 2017</a:t>
            </a:r>
          </a:p>
        </p:txBody>
      </p:sp>
      <p:graphicFrame>
        <p:nvGraphicFramePr>
          <p:cNvPr id="5" name="grafik_pertumbuhan"/>
          <p:cNvGraphicFramePr>
            <a:graphicFrameLocks noGrp="1"/>
          </p:cNvGraphicFramePr>
          <p:nvPr/>
        </p:nvGraphicFramePr>
        <p:xfrm>
          <a:off x="548640" y="2103120"/>
          <a:ext cx="6675120" cy="3931920"/>
        </p:xfrm>
        <a:graphic>
          <a:graphicData uri="http://schemas.openxmlformats.org/drawingml/2006/chart">
            <c:chart xmlns:c="http://schemas.openxmlformats.org/drawingml/2006/chart" r:id="rId2"/>
          </a:graphicData>
        </a:graphic>
      </p:graphicFrame>
      <p:sp>
        <p:nvSpPr>
          <p:cNvPr id="6" name="bg_penjelasan"/>
          <p:cNvSpPr/>
          <p:nvPr/>
        </p:nvSpPr>
        <p:spPr>
          <a:xfrm>
            <a:off x="7589520" y="1737360"/>
            <a:ext cx="4050791" cy="429768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enjelasan"/>
          <p:cNvSpPr txBox="1"/>
          <p:nvPr/>
        </p:nvSpPr>
        <p:spPr>
          <a:xfrm>
            <a:off x="7863840" y="2011679"/>
            <a:ext cx="3502151" cy="3749040"/>
          </a:xfrm>
          <a:prstGeom prst="rect">
            <a:avLst/>
          </a:prstGeom>
          <a:noFill/>
        </p:spPr>
        <p:txBody>
          <a:bodyPr wrap="square" lIns="0" rIns="0" tIns="0" bIns="0" anchor="t">
            <a:noAutofit/>
          </a:bodyPr>
          <a:lstStyle/>
          <a:p>
            <a:pPr algn="l">
              <a:spcAft>
                <a:spcPts val="600"/>
              </a:spcAft>
            </a:pPr>
            <a:r>
              <a:rPr sz="1100" i="0" lang="id-ID">
                <a:solidFill>
                  <a:srgbClr val="5F6B7A"/>
                </a:solidFill>
                <a:latin typeface="Segoe UI Semibold"/>
              </a:rPr>
              <a:t>APA ARTINYA</a:t>
            </a:r>
          </a:p>
          <a:p>
            <a:pPr algn="l">
              <a:spcAft>
                <a:spcPts val="800"/>
              </a:spcAft>
            </a:pPr>
            <a:r>
              <a:rPr sz="1500" i="0" lang="id-ID">
                <a:solidFill>
                  <a:srgbClr val="1F2328"/>
                </a:solidFill>
                <a:latin typeface="Segoe UI Semibold"/>
              </a:rPr>
              <a:t>Revenue, order, dan customer tumbuh hampir sama besar.</a:t>
            </a:r>
          </a:p>
          <a:p>
            <a:pPr algn="l">
              <a:spcAft>
                <a:spcPts val="800"/>
              </a:spcAft>
            </a:pPr>
            <a:r>
              <a:rPr sz="1400" i="0" lang="id-ID">
                <a:solidFill>
                  <a:srgbClr val="1F2328"/>
                </a:solidFill>
                <a:latin typeface="Segoe UI"/>
              </a:rPr>
              <a:t>Nilai rata-rata per order (AOV) praktis tidak berubah: customer tidak berbelanja lebih banyak per transaksi.</a:t>
            </a:r>
          </a:p>
          <a:p>
            <a:pPr algn="l">
              <a:spcAft>
                <a:spcPts val="1800"/>
              </a:spcAft>
            </a:pPr>
            <a:r>
              <a:rPr sz="1400" i="0" lang="id-ID">
                <a:solidFill>
                  <a:srgbClr val="1F2328"/>
                </a:solidFill>
                <a:latin typeface="Segoe UI"/>
              </a:rPr>
              <a:t>Pertumbuhan masih bergantung pada tambahan order dan customer baru.</a:t>
            </a:r>
          </a:p>
          <a:p>
            <a:pPr algn="l">
              <a:spcAft>
                <a:spcPts val="600"/>
              </a:spcAft>
            </a:pPr>
            <a:r>
              <a:rPr sz="1100" i="0" lang="id-ID">
                <a:solidFill>
                  <a:srgbClr val="5F6B7A"/>
                </a:solidFill>
                <a:latin typeface="Segoe UI Semibold"/>
              </a:rPr>
              <a:t>IMPLIKASI</a:t>
            </a:r>
          </a:p>
          <a:p>
            <a:pPr algn="l">
              <a:spcAft>
                <a:spcPts val="0"/>
              </a:spcAft>
            </a:pPr>
            <a:r>
              <a:rPr sz="1400" i="0" lang="id-ID">
                <a:solidFill>
                  <a:srgbClr val="1F2328"/>
                </a:solidFill>
                <a:latin typeface="Segoe UI Semibold"/>
              </a:rPr>
              <a:t>Perlu pengungkit pertumbuhan kedua: menaikkan nilai per order (lihat rekomendasi).</a:t>
            </a:r>
          </a:p>
        </p:txBody>
      </p:sp>
      <p:cxnSp>
        <p:nvCxnSpPr>
          <p:cNvPr id="8" name="garis_footer"/>
          <p:cNvCxnSpPr/>
          <p:nvPr/>
        </p:nvCxnSpPr>
        <p:spPr>
          <a:xfrm>
            <a:off x="548640" y="6199632"/>
            <a:ext cx="11091672" cy="0"/>
          </a:xfrm>
          <a:prstGeom prst="line">
            <a:avLst/>
          </a:prstGeom>
          <a:ln w="9525">
            <a:solidFill>
              <a:srgbClr val="D0D7DE"/>
            </a:solidFill>
          </a:ln>
          <a:effectLst/>
        </p:spPr>
        <p:style>
          <a:lnRef idx="2">
            <a:schemeClr val="accent1"/>
          </a:lnRef>
          <a:fillRef idx="0">
            <a:schemeClr val="accent1"/>
          </a:fillRef>
          <a:effectRef idx="1">
            <a:schemeClr val="accent1"/>
          </a:effectRef>
          <a:fontRef idx="minor">
            <a:schemeClr val="tx1"/>
          </a:fontRef>
        </p:style>
      </p:cxnSp>
      <p:sp>
        <p:nvSpPr>
          <p:cNvPr id="9" name="footer_sumber"/>
          <p:cNvSpPr txBox="1"/>
          <p:nvPr/>
        </p:nvSpPr>
        <p:spPr>
          <a:xfrm>
            <a:off x="548640" y="6272784"/>
            <a:ext cx="10241280" cy="457200"/>
          </a:xfrm>
          <a:prstGeom prst="rect">
            <a:avLst/>
          </a:prstGeom>
          <a:noFill/>
        </p:spPr>
        <p:txBody>
          <a:bodyPr wrap="square" lIns="0" rIns="0" tIns="0" bIns="0" anchor="t">
            <a:noAutofit/>
          </a:bodyPr>
          <a:lstStyle/>
          <a:p>
            <a:pPr algn="l">
              <a:spcAft>
                <a:spcPts val="0"/>
              </a:spcAft>
            </a:pPr>
            <a:r>
              <a:rPr sz="900" i="0" lang="id-ID">
                <a:solidFill>
                  <a:srgbClr val="5F6B7A"/>
                </a:solidFill>
                <a:latin typeface="Segoe UI"/>
              </a:rPr>
              <a:t>Sumber: results/02_q1c_fair_period_comparison.csv · periode sebanding Jan–Jul, karena data 2018 di jendela analisis hanya sampai Juli · AOV = revenue ÷ jumlah order</a:t>
            </a:r>
          </a:p>
        </p:txBody>
      </p:sp>
      <p:sp>
        <p:nvSpPr>
          <p:cNvPr id="10" name="footer_halaman"/>
          <p:cNvSpPr txBox="1"/>
          <p:nvPr/>
        </p:nvSpPr>
        <p:spPr>
          <a:xfrm>
            <a:off x="10908792" y="6272784"/>
            <a:ext cx="731520" cy="182880"/>
          </a:xfrm>
          <a:prstGeom prst="rect">
            <a:avLst/>
          </a:prstGeom>
          <a:noFill/>
        </p:spPr>
        <p:txBody>
          <a:bodyPr wrap="square" lIns="0" rIns="0" tIns="0" bIns="0" anchor="t">
            <a:noAutofit/>
          </a:bodyPr>
          <a:lstStyle/>
          <a:p>
            <a:pPr algn="r">
              <a:spcAft>
                <a:spcPts val="0"/>
              </a:spcAft>
            </a:pPr>
            <a:r>
              <a:rPr sz="900" i="0" lang="id-ID">
                <a:solidFill>
                  <a:srgbClr val="5F6B7A"/>
                </a:solidFill>
                <a:latin typeface="Segoe UI"/>
              </a:rPr>
              <a:t>3 / 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84048"/>
            <a:ext cx="11091672" cy="274320"/>
          </a:xfrm>
          <a:prstGeom prst="rect">
            <a:avLst/>
          </a:prstGeom>
          <a:noFill/>
        </p:spPr>
        <p:txBody>
          <a:bodyPr wrap="square" lIns="0" rIns="0" tIns="0" bIns="0" anchor="t">
            <a:noAutofit/>
          </a:bodyPr>
          <a:lstStyle/>
          <a:p>
            <a:pPr algn="l">
              <a:spcAft>
                <a:spcPts val="0"/>
              </a:spcAft>
            </a:pPr>
            <a:r>
              <a:rPr sz="1100" i="0" lang="id-ID">
                <a:solidFill>
                  <a:srgbClr val="118DFF"/>
                </a:solidFill>
                <a:latin typeface="Segoe UI Semibold"/>
              </a:rPr>
              <a:t>TEMUAN 2 · RETENSI &amp; KONSENTRASI</a:t>
            </a:r>
          </a:p>
        </p:txBody>
      </p:sp>
      <p:sp>
        <p:nvSpPr>
          <p:cNvPr id="3" name="judul"/>
          <p:cNvSpPr txBox="1"/>
          <p:nvPr/>
        </p:nvSpPr>
        <p:spPr>
          <a:xfrm>
            <a:off x="548640" y="658368"/>
            <a:ext cx="11091672" cy="914400"/>
          </a:xfrm>
          <a:prstGeom prst="rect">
            <a:avLst/>
          </a:prstGeom>
          <a:noFill/>
        </p:spPr>
        <p:txBody>
          <a:bodyPr wrap="square" lIns="0" rIns="0" tIns="0" bIns="0" anchor="t">
            <a:noAutofit/>
          </a:bodyPr>
          <a:lstStyle/>
          <a:p>
            <a:pPr algn="l">
              <a:lnSpc>
                <a:spcPct val="95000"/>
              </a:lnSpc>
              <a:spcAft>
                <a:spcPts val="0"/>
              </a:spcAft>
            </a:pPr>
            <a:r>
              <a:rPr sz="2600" i="0" lang="id-ID">
                <a:solidFill>
                  <a:srgbClr val="1F2328"/>
                </a:solidFill>
                <a:latin typeface="Segoe UI Semibold"/>
              </a:rPr>
              <a:t>97% customer hanya belanja sekali — bahkan customer bernilai tertinggi jarang kembali</a:t>
            </a:r>
          </a:p>
        </p:txBody>
      </p:sp>
      <p:sp>
        <p:nvSpPr>
          <p:cNvPr id="4" name="judul_grafik"/>
          <p:cNvSpPr txBox="1"/>
          <p:nvPr/>
        </p:nvSpPr>
        <p:spPr>
          <a:xfrm>
            <a:off x="548640" y="1737360"/>
            <a:ext cx="6675120" cy="274320"/>
          </a:xfrm>
          <a:prstGeom prst="rect">
            <a:avLst/>
          </a:prstGeom>
          <a:noFill/>
        </p:spPr>
        <p:txBody>
          <a:bodyPr wrap="square" lIns="0" rIns="0" tIns="0" bIns="0" anchor="t">
            <a:noAutofit/>
          </a:bodyPr>
          <a:lstStyle/>
          <a:p>
            <a:pPr algn="l">
              <a:spcAft>
                <a:spcPts val="0"/>
              </a:spcAft>
            </a:pPr>
            <a:r>
              <a:rPr sz="1300" i="0" lang="id-ID">
                <a:solidFill>
                  <a:srgbClr val="1F2328"/>
                </a:solidFill>
                <a:latin typeface="Segoe UI Semibold"/>
              </a:rPr>
              <a:t>Porsi revenue per desil customer (desil 1 = 10% customer teratas)</a:t>
            </a:r>
          </a:p>
        </p:txBody>
      </p:sp>
      <p:graphicFrame>
        <p:nvGraphicFramePr>
          <p:cNvPr id="5" name="grafik_desil"/>
          <p:cNvGraphicFramePr>
            <a:graphicFrameLocks noGrp="1"/>
          </p:cNvGraphicFramePr>
          <p:nvPr/>
        </p:nvGraphicFramePr>
        <p:xfrm>
          <a:off x="548640" y="2103120"/>
          <a:ext cx="6675120" cy="3931920"/>
        </p:xfrm>
        <a:graphic>
          <a:graphicData uri="http://schemas.openxmlformats.org/drawingml/2006/chart">
            <c:chart xmlns:c="http://schemas.openxmlformats.org/drawingml/2006/chart" r:id="rId2"/>
          </a:graphicData>
        </a:graphic>
      </p:graphicFrame>
      <p:sp>
        <p:nvSpPr>
          <p:cNvPr id="6" name="bg_penjelasan"/>
          <p:cNvSpPr/>
          <p:nvPr/>
        </p:nvSpPr>
        <p:spPr>
          <a:xfrm>
            <a:off x="7589520" y="1737360"/>
            <a:ext cx="4050791" cy="429768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enjelasan"/>
          <p:cNvSpPr txBox="1"/>
          <p:nvPr/>
        </p:nvSpPr>
        <p:spPr>
          <a:xfrm>
            <a:off x="7863840" y="2011679"/>
            <a:ext cx="3502151" cy="3749040"/>
          </a:xfrm>
          <a:prstGeom prst="rect">
            <a:avLst/>
          </a:prstGeom>
          <a:noFill/>
        </p:spPr>
        <p:txBody>
          <a:bodyPr wrap="square" lIns="0" rIns="0" tIns="0" bIns="0" anchor="t">
            <a:noAutofit/>
          </a:bodyPr>
          <a:lstStyle/>
          <a:p>
            <a:pPr algn="l">
              <a:spcAft>
                <a:spcPts val="600"/>
              </a:spcAft>
            </a:pPr>
            <a:r>
              <a:rPr sz="1100" i="0" lang="id-ID">
                <a:solidFill>
                  <a:srgbClr val="5F6B7A"/>
                </a:solidFill>
                <a:latin typeface="Segoe UI Semibold"/>
              </a:rPr>
              <a:t>APA ARTINYA</a:t>
            </a:r>
          </a:p>
          <a:p>
            <a:pPr algn="l">
              <a:spcAft>
                <a:spcPts val="800"/>
              </a:spcAft>
            </a:pPr>
            <a:r>
              <a:rPr sz="1500" i="0" lang="id-ID">
                <a:solidFill>
                  <a:srgbClr val="1F2328"/>
                </a:solidFill>
                <a:latin typeface="Segoe UI Semibold"/>
              </a:rPr>
              <a:t>10% customer teratas menyumbang 41,09% revenue …</a:t>
            </a:r>
          </a:p>
          <a:p>
            <a:pPr algn="l">
              <a:spcAft>
                <a:spcPts val="800"/>
              </a:spcAft>
            </a:pPr>
            <a:r>
              <a:rPr sz="1400" i="0" lang="id-ID">
                <a:solidFill>
                  <a:srgbClr val="1F2328"/>
                </a:solidFill>
                <a:latin typeface="Segoe UI"/>
              </a:rPr>
              <a:t>… tetapi 91,99% revenue kelompok ini berasal dari customer yang hanya belanja sekali.</a:t>
            </a:r>
          </a:p>
          <a:p>
            <a:pPr algn="l">
              <a:spcAft>
                <a:spcPts val="1800"/>
              </a:spcAft>
            </a:pPr>
            <a:r>
              <a:rPr sz="1400" i="0" lang="id-ID">
                <a:solidFill>
                  <a:srgbClr val="1F2328"/>
                </a:solidFill>
                <a:latin typeface="Segoe UI"/>
              </a:rPr>
              <a:t>Bukan karena customer belum sempat kembali: customer yang diamati penuh selama setahun pun hampir semuanya tidak kembali.</a:t>
            </a:r>
          </a:p>
          <a:p>
            <a:pPr algn="l">
              <a:spcAft>
                <a:spcPts val="600"/>
              </a:spcAft>
            </a:pPr>
            <a:r>
              <a:rPr sz="1100" i="0" lang="id-ID">
                <a:solidFill>
                  <a:srgbClr val="5F6B7A"/>
                </a:solidFill>
                <a:latin typeface="Segoe UI Semibold"/>
              </a:rPr>
              <a:t>IMPLIKASI</a:t>
            </a:r>
          </a:p>
          <a:p>
            <a:pPr algn="l">
              <a:spcAft>
                <a:spcPts val="0"/>
              </a:spcAft>
            </a:pPr>
            <a:r>
              <a:rPr sz="1400" i="0" lang="id-ID">
                <a:solidFill>
                  <a:srgbClr val="1F2328"/>
                </a:solidFill>
                <a:latin typeface="Segoe UI Semibold"/>
              </a:rPr>
              <a:t>Jadikan pembelian pertama — terutama yang bernilai besar — pemicu program pembelian kedua.</a:t>
            </a:r>
          </a:p>
        </p:txBody>
      </p:sp>
      <p:cxnSp>
        <p:nvCxnSpPr>
          <p:cNvPr id="8" name="garis_footer"/>
          <p:cNvCxnSpPr/>
          <p:nvPr/>
        </p:nvCxnSpPr>
        <p:spPr>
          <a:xfrm>
            <a:off x="548640" y="6199632"/>
            <a:ext cx="11091672" cy="0"/>
          </a:xfrm>
          <a:prstGeom prst="line">
            <a:avLst/>
          </a:prstGeom>
          <a:ln w="9525">
            <a:solidFill>
              <a:srgbClr val="D0D7DE"/>
            </a:solidFill>
          </a:ln>
          <a:effectLst/>
        </p:spPr>
        <p:style>
          <a:lnRef idx="2">
            <a:schemeClr val="accent1"/>
          </a:lnRef>
          <a:fillRef idx="0">
            <a:schemeClr val="accent1"/>
          </a:fillRef>
          <a:effectRef idx="1">
            <a:schemeClr val="accent1"/>
          </a:effectRef>
          <a:fontRef idx="minor">
            <a:schemeClr val="tx1"/>
          </a:fontRef>
        </p:style>
      </p:cxnSp>
      <p:sp>
        <p:nvSpPr>
          <p:cNvPr id="9" name="footer_sumber"/>
          <p:cNvSpPr txBox="1"/>
          <p:nvPr/>
        </p:nvSpPr>
        <p:spPr>
          <a:xfrm>
            <a:off x="548640" y="6272784"/>
            <a:ext cx="10241280" cy="457200"/>
          </a:xfrm>
          <a:prstGeom prst="rect">
            <a:avLst/>
          </a:prstGeom>
          <a:noFill/>
        </p:spPr>
        <p:txBody>
          <a:bodyPr wrap="square" lIns="0" rIns="0" tIns="0" bIns="0" anchor="t">
            <a:noAutofit/>
          </a:bodyPr>
          <a:lstStyle/>
          <a:p>
            <a:pPr algn="l">
              <a:spcAft>
                <a:spcPts val="0"/>
              </a:spcAft>
            </a:pPr>
            <a:r>
              <a:rPr sz="900" i="0" lang="id-ID">
                <a:solidFill>
                  <a:srgbClr val="5F6B7A"/>
                </a:solidFill>
                <a:latin typeface="Segoe UI"/>
              </a:rPr>
              <a:t>Sumber: results/03_q4b_order_distribution.csv, results/03_q5a_decile.csv, results/03_q5c_decile_repeat.csv, results/03_q4d_cohort_12m_repeat.csv · customer = customer_unique_id</a:t>
            </a:r>
          </a:p>
        </p:txBody>
      </p:sp>
      <p:sp>
        <p:nvSpPr>
          <p:cNvPr id="10" name="footer_halaman"/>
          <p:cNvSpPr txBox="1"/>
          <p:nvPr/>
        </p:nvSpPr>
        <p:spPr>
          <a:xfrm>
            <a:off x="10908792" y="6272784"/>
            <a:ext cx="731520" cy="182880"/>
          </a:xfrm>
          <a:prstGeom prst="rect">
            <a:avLst/>
          </a:prstGeom>
          <a:noFill/>
        </p:spPr>
        <p:txBody>
          <a:bodyPr wrap="square" lIns="0" rIns="0" tIns="0" bIns="0" anchor="t">
            <a:noAutofit/>
          </a:bodyPr>
          <a:lstStyle/>
          <a:p>
            <a:pPr algn="r">
              <a:spcAft>
                <a:spcPts val="0"/>
              </a:spcAft>
            </a:pPr>
            <a:r>
              <a:rPr sz="900" i="0" lang="id-ID">
                <a:solidFill>
                  <a:srgbClr val="5F6B7A"/>
                </a:solidFill>
                <a:latin typeface="Segoe UI"/>
              </a:rPr>
              <a:t>4 / 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84048"/>
            <a:ext cx="11091672" cy="274320"/>
          </a:xfrm>
          <a:prstGeom prst="rect">
            <a:avLst/>
          </a:prstGeom>
          <a:noFill/>
        </p:spPr>
        <p:txBody>
          <a:bodyPr wrap="square" lIns="0" rIns="0" tIns="0" bIns="0" anchor="t">
            <a:noAutofit/>
          </a:bodyPr>
          <a:lstStyle/>
          <a:p>
            <a:pPr algn="l">
              <a:spcAft>
                <a:spcPts val="0"/>
              </a:spcAft>
            </a:pPr>
            <a:r>
              <a:rPr sz="1100" i="0" lang="id-ID">
                <a:solidFill>
                  <a:srgbClr val="118DFF"/>
                </a:solidFill>
                <a:latin typeface="Segoe UI Semibold"/>
              </a:rPr>
              <a:t>TEMUAN 3 · BEBAN ONGKIR (PROXY)</a:t>
            </a:r>
          </a:p>
        </p:txBody>
      </p:sp>
      <p:sp>
        <p:nvSpPr>
          <p:cNvPr id="3" name="judul"/>
          <p:cNvSpPr txBox="1"/>
          <p:nvPr/>
        </p:nvSpPr>
        <p:spPr>
          <a:xfrm>
            <a:off x="548640" y="658368"/>
            <a:ext cx="11091672" cy="914400"/>
          </a:xfrm>
          <a:prstGeom prst="rect">
            <a:avLst/>
          </a:prstGeom>
          <a:noFill/>
        </p:spPr>
        <p:txBody>
          <a:bodyPr wrap="square" lIns="0" rIns="0" tIns="0" bIns="0" anchor="t">
            <a:noAutofit/>
          </a:bodyPr>
          <a:lstStyle/>
          <a:p>
            <a:pPr algn="l">
              <a:lnSpc>
                <a:spcPct val="95000"/>
              </a:lnSpc>
              <a:spcAft>
                <a:spcPts val="0"/>
              </a:spcAft>
            </a:pPr>
            <a:r>
              <a:rPr sz="2600" i="0" lang="id-ID">
                <a:solidFill>
                  <a:srgbClr val="1F2328"/>
                </a:solidFill>
                <a:latin typeface="Segoe UI Semibold"/>
              </a:rPr>
              <a:t>Di luar São Paulo dan pada barang murah, customer menanggung ongkir lebih berat</a:t>
            </a:r>
          </a:p>
        </p:txBody>
      </p:sp>
      <p:sp>
        <p:nvSpPr>
          <p:cNvPr id="4" name="judul_grafik"/>
          <p:cNvSpPr txBox="1"/>
          <p:nvPr/>
        </p:nvSpPr>
        <p:spPr>
          <a:xfrm>
            <a:off x="548640" y="1737360"/>
            <a:ext cx="6675120" cy="274320"/>
          </a:xfrm>
          <a:prstGeom prst="rect">
            <a:avLst/>
          </a:prstGeom>
          <a:noFill/>
        </p:spPr>
        <p:txBody>
          <a:bodyPr wrap="square" lIns="0" rIns="0" tIns="0" bIns="0" anchor="t">
            <a:noAutofit/>
          </a:bodyPr>
          <a:lstStyle/>
          <a:p>
            <a:pPr algn="l">
              <a:spcAft>
                <a:spcPts val="0"/>
              </a:spcAft>
            </a:pPr>
            <a:r>
              <a:rPr sz="1300" i="0" lang="id-ID">
                <a:solidFill>
                  <a:srgbClr val="1F2328"/>
                </a:solidFill>
                <a:latin typeface="Segoe UI Semibold"/>
              </a:rPr>
              <a:t>Freight burden (proxy) per state · ongkir ÷ harga barang</a:t>
            </a:r>
          </a:p>
        </p:txBody>
      </p:sp>
      <p:graphicFrame>
        <p:nvGraphicFramePr>
          <p:cNvPr id="5" name="grafik_state"/>
          <p:cNvGraphicFramePr>
            <a:graphicFrameLocks noGrp="1"/>
          </p:cNvGraphicFramePr>
          <p:nvPr/>
        </p:nvGraphicFramePr>
        <p:xfrm>
          <a:off x="548640" y="2057400"/>
          <a:ext cx="6675120" cy="4023360"/>
        </p:xfrm>
        <a:graphic>
          <a:graphicData uri="http://schemas.openxmlformats.org/drawingml/2006/chart">
            <c:chart xmlns:c="http://schemas.openxmlformats.org/drawingml/2006/chart" r:id="rId2"/>
          </a:graphicData>
        </a:graphic>
      </p:graphicFrame>
      <p:sp>
        <p:nvSpPr>
          <p:cNvPr id="6" name="bg_penjelasan"/>
          <p:cNvSpPr/>
          <p:nvPr/>
        </p:nvSpPr>
        <p:spPr>
          <a:xfrm>
            <a:off x="7589520" y="1737360"/>
            <a:ext cx="4050791" cy="434340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enjelasan"/>
          <p:cNvSpPr txBox="1"/>
          <p:nvPr/>
        </p:nvSpPr>
        <p:spPr>
          <a:xfrm>
            <a:off x="7863840" y="2011679"/>
            <a:ext cx="3502151" cy="3794760"/>
          </a:xfrm>
          <a:prstGeom prst="rect">
            <a:avLst/>
          </a:prstGeom>
          <a:noFill/>
        </p:spPr>
        <p:txBody>
          <a:bodyPr wrap="square" lIns="0" rIns="0" tIns="0" bIns="0" anchor="t">
            <a:noAutofit/>
          </a:bodyPr>
          <a:lstStyle/>
          <a:p>
            <a:pPr algn="l">
              <a:spcAft>
                <a:spcPts val="600"/>
              </a:spcAft>
            </a:pPr>
            <a:r>
              <a:rPr sz="1100" i="0" lang="id-ID">
                <a:solidFill>
                  <a:srgbClr val="5F6B7A"/>
                </a:solidFill>
                <a:latin typeface="Segoe UI Semibold"/>
              </a:rPr>
              <a:t>PER STATE</a:t>
            </a:r>
          </a:p>
          <a:p>
            <a:pPr algn="l">
              <a:spcAft>
                <a:spcPts val="1400"/>
              </a:spcAft>
            </a:pPr>
            <a:r>
              <a:rPr sz="1300" i="0" lang="id-ID">
                <a:solidFill>
                  <a:srgbClr val="1F2328"/>
                </a:solidFill>
                <a:latin typeface="Segoe UI"/>
              </a:rPr>
              <a:t>São Paulo, pasar terbesar, punya beban ongkir terendah. State besar lainnya lebih tinggi: dari hampir sama dengan rata-rata nasional (DF dan RJ) hingga 22,30% di PE.</a:t>
            </a:r>
          </a:p>
          <a:p>
            <a:pPr algn="l">
              <a:spcAft>
                <a:spcPts val="600"/>
              </a:spcAft>
            </a:pPr>
            <a:r>
              <a:rPr sz="1100" i="0" lang="id-ID">
                <a:solidFill>
                  <a:srgbClr val="5F6B7A"/>
                </a:solidFill>
                <a:latin typeface="Segoe UI Semibold"/>
              </a:rPr>
              <a:t>PER KATEGORI</a:t>
            </a:r>
          </a:p>
          <a:p>
            <a:pPr algn="l">
              <a:spcAft>
                <a:spcPts val="600"/>
              </a:spcAft>
            </a:pPr>
            <a:r>
              <a:rPr sz="1400" i="0" lang="id-ID">
                <a:solidFill>
                  <a:srgbClr val="1F2328"/>
                </a:solidFill>
                <a:latin typeface="Segoe UI Semibold"/>
              </a:rPr>
              <a:t>Kategori besar dengan freight burden di atas rata-rata menyumbang 36,18% revenue.</a:t>
            </a:r>
          </a:p>
          <a:p>
            <a:pPr algn="l">
              <a:spcAft>
                <a:spcPts val="1400"/>
              </a:spcAft>
            </a:pPr>
            <a:r>
              <a:rPr sz="1300" i="0" lang="id-ID">
                <a:solidFill>
                  <a:srgbClr val="1F2328"/>
                </a:solidFill>
                <a:latin typeface="Segoe UI"/>
              </a:rPr>
              <a:t>Hampir semuanya barang murah, kecuali office_furniture yang ongkirnya mahal.</a:t>
            </a:r>
          </a:p>
          <a:p>
            <a:pPr algn="l">
              <a:spcAft>
                <a:spcPts val="600"/>
              </a:spcAft>
            </a:pPr>
            <a:r>
              <a:rPr sz="1100" i="0" lang="id-ID">
                <a:solidFill>
                  <a:srgbClr val="5F6B7A"/>
                </a:solidFill>
                <a:latin typeface="Segoe UI Semibold"/>
              </a:rPr>
              <a:t>IMPLIKASI · HIPOTESIS (KEYAKINAN RENDAH)</a:t>
            </a:r>
          </a:p>
          <a:p>
            <a:pPr algn="l">
              <a:spcAft>
                <a:spcPts val="0"/>
              </a:spcAft>
            </a:pPr>
            <a:r>
              <a:rPr sz="1400" i="0" lang="id-ID">
                <a:solidFill>
                  <a:srgbClr val="1F2328"/>
                </a:solidFill>
                <a:latin typeface="Segoe UI Semibold"/>
              </a:rPr>
              <a:t>Ongkir yang berat berpotensi menahan pembelian di luar SP dan pembelian barang murah — perlu diuji.</a:t>
            </a:r>
          </a:p>
        </p:txBody>
      </p:sp>
      <p:cxnSp>
        <p:nvCxnSpPr>
          <p:cNvPr id="8" name="garis_footer"/>
          <p:cNvCxnSpPr/>
          <p:nvPr/>
        </p:nvCxnSpPr>
        <p:spPr>
          <a:xfrm>
            <a:off x="548640" y="6199632"/>
            <a:ext cx="11091672" cy="0"/>
          </a:xfrm>
          <a:prstGeom prst="line">
            <a:avLst/>
          </a:prstGeom>
          <a:ln w="9525">
            <a:solidFill>
              <a:srgbClr val="D0D7DE"/>
            </a:solidFill>
          </a:ln>
          <a:effectLst/>
        </p:spPr>
        <p:style>
          <a:lnRef idx="2">
            <a:schemeClr val="accent1"/>
          </a:lnRef>
          <a:fillRef idx="0">
            <a:schemeClr val="accent1"/>
          </a:fillRef>
          <a:effectRef idx="1">
            <a:schemeClr val="accent1"/>
          </a:effectRef>
          <a:fontRef idx="minor">
            <a:schemeClr val="tx1"/>
          </a:fontRef>
        </p:style>
      </p:cxnSp>
      <p:sp>
        <p:nvSpPr>
          <p:cNvPr id="9" name="footer_sumber"/>
          <p:cNvSpPr txBox="1"/>
          <p:nvPr/>
        </p:nvSpPr>
        <p:spPr>
          <a:xfrm>
            <a:off x="548640" y="6272784"/>
            <a:ext cx="10241280" cy="457200"/>
          </a:xfrm>
          <a:prstGeom prst="rect">
            <a:avLst/>
          </a:prstGeom>
          <a:noFill/>
        </p:spPr>
        <p:txBody>
          <a:bodyPr wrap="square" lIns="0" rIns="0" tIns="0" bIns="0" anchor="t">
            <a:noAutofit/>
          </a:bodyPr>
          <a:lstStyle/>
          <a:p>
            <a:pPr algn="l">
              <a:spcAft>
                <a:spcPts val="0"/>
              </a:spcAft>
            </a:pPr>
            <a:r>
              <a:rPr sz="900" i="0" lang="id-ID">
                <a:solidFill>
                  <a:srgbClr val="5F6B7A"/>
                </a:solidFill>
                <a:latin typeface="Segoe UI"/>
              </a:rPr>
              <a:t>Freight burden (proxy) = Σ ongkir ÷ Σ harga barang; ongkir dibayar customer — bukan profit dan bukan biaya perusahaan. Rata-rata nasional 16,57%. Hanya state dengan ≥ 1.000 order yang ditampilkan (12 dari 27 state, 93,33% order) agar angkanya stabil. Sumber: results/02_q3_region.csv, results/04_q7_high_burden_categories.csv, results/04_q6_volume_vs_value.csv</a:t>
            </a:r>
          </a:p>
        </p:txBody>
      </p:sp>
      <p:sp>
        <p:nvSpPr>
          <p:cNvPr id="10" name="footer_halaman"/>
          <p:cNvSpPr txBox="1"/>
          <p:nvPr/>
        </p:nvSpPr>
        <p:spPr>
          <a:xfrm>
            <a:off x="10908792" y="6272784"/>
            <a:ext cx="731520" cy="182880"/>
          </a:xfrm>
          <a:prstGeom prst="rect">
            <a:avLst/>
          </a:prstGeom>
          <a:noFill/>
        </p:spPr>
        <p:txBody>
          <a:bodyPr wrap="square" lIns="0" rIns="0" tIns="0" bIns="0" anchor="t">
            <a:noAutofit/>
          </a:bodyPr>
          <a:lstStyle/>
          <a:p>
            <a:pPr algn="r">
              <a:spcAft>
                <a:spcPts val="0"/>
              </a:spcAft>
            </a:pPr>
            <a:r>
              <a:rPr sz="900" i="0" lang="id-ID">
                <a:solidFill>
                  <a:srgbClr val="5F6B7A"/>
                </a:solidFill>
                <a:latin typeface="Segoe UI"/>
              </a:rPr>
              <a:t>5 / 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84048"/>
            <a:ext cx="11091672" cy="274320"/>
          </a:xfrm>
          <a:prstGeom prst="rect">
            <a:avLst/>
          </a:prstGeom>
          <a:noFill/>
        </p:spPr>
        <p:txBody>
          <a:bodyPr wrap="square" lIns="0" rIns="0" tIns="0" bIns="0" anchor="t">
            <a:noAutofit/>
          </a:bodyPr>
          <a:lstStyle/>
          <a:p>
            <a:pPr algn="l">
              <a:spcAft>
                <a:spcPts val="0"/>
              </a:spcAft>
            </a:pPr>
            <a:r>
              <a:rPr sz="1100" i="0" lang="id-ID">
                <a:solidFill>
                  <a:srgbClr val="118DFF"/>
                </a:solidFill>
                <a:latin typeface="Segoe UI Semibold"/>
              </a:rPr>
              <a:t>REKOMENDASI</a:t>
            </a:r>
          </a:p>
        </p:txBody>
      </p:sp>
      <p:sp>
        <p:nvSpPr>
          <p:cNvPr id="3" name="judul"/>
          <p:cNvSpPr txBox="1"/>
          <p:nvPr/>
        </p:nvSpPr>
        <p:spPr>
          <a:xfrm>
            <a:off x="548640" y="658368"/>
            <a:ext cx="11091672" cy="914400"/>
          </a:xfrm>
          <a:prstGeom prst="rect">
            <a:avLst/>
          </a:prstGeom>
          <a:noFill/>
        </p:spPr>
        <p:txBody>
          <a:bodyPr wrap="square" lIns="0" rIns="0" tIns="0" bIns="0" anchor="t">
            <a:noAutofit/>
          </a:bodyPr>
          <a:lstStyle/>
          <a:p>
            <a:pPr algn="l">
              <a:lnSpc>
                <a:spcPct val="95000"/>
              </a:lnSpc>
              <a:spcAft>
                <a:spcPts val="0"/>
              </a:spcAft>
            </a:pPr>
            <a:r>
              <a:rPr sz="2600" i="0" lang="id-ID">
                <a:solidFill>
                  <a:srgbClr val="1F2328"/>
                </a:solidFill>
                <a:latin typeface="Segoe UI Semibold"/>
              </a:rPr>
              <a:t>Tiga prioritas: ajak customer kembali, naikkan nilai per order, ringankan beban ongkir</a:t>
            </a:r>
          </a:p>
        </p:txBody>
      </p:sp>
      <p:sp>
        <p:nvSpPr>
          <p:cNvPr id="4" name="kriteria"/>
          <p:cNvSpPr txBox="1"/>
          <p:nvPr/>
        </p:nvSpPr>
        <p:spPr>
          <a:xfrm>
            <a:off x="548640" y="1737360"/>
            <a:ext cx="11091672" cy="320040"/>
          </a:xfrm>
          <a:prstGeom prst="rect">
            <a:avLst/>
          </a:prstGeom>
          <a:noFill/>
        </p:spPr>
        <p:txBody>
          <a:bodyPr wrap="square" lIns="0" rIns="0" tIns="0" bIns="0" anchor="t">
            <a:noAutofit/>
          </a:bodyPr>
          <a:lstStyle/>
          <a:p>
            <a:pPr algn="l">
              <a:spcAft>
                <a:spcPts val="0"/>
              </a:spcAft>
            </a:pPr>
            <a:r>
              <a:rPr sz="1400" i="0" lang="id-ID">
                <a:solidFill>
                  <a:srgbClr val="118DFF"/>
                </a:solidFill>
                <a:latin typeface="Segoe UI Semibold"/>
              </a:rPr>
              <a:t>Kriteria prioritas:  </a:t>
            </a:r>
            <a:r>
              <a:rPr sz="1400" i="0" lang="id-ID">
                <a:solidFill>
                  <a:srgbClr val="1F2328"/>
                </a:solidFill>
                <a:latin typeface="Segoe UI"/>
              </a:rPr>
              <a:t>ukuran masalah  ×  kendali platform  ×  kemudahan diuji lewat eksperimen</a:t>
            </a:r>
          </a:p>
        </p:txBody>
      </p:sp>
      <p:sp>
        <p:nvSpPr>
          <p:cNvPr id="5" name="bg_kartu_1"/>
          <p:cNvSpPr/>
          <p:nvPr/>
        </p:nvSpPr>
        <p:spPr>
          <a:xfrm>
            <a:off x="548640" y="2212848"/>
            <a:ext cx="3514039" cy="3877056"/>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adge_1"/>
          <p:cNvSpPr/>
          <p:nvPr/>
        </p:nvSpPr>
        <p:spPr>
          <a:xfrm>
            <a:off x="822959" y="2450591"/>
            <a:ext cx="402336" cy="402336"/>
          </a:xfrm>
          <a:prstGeom prst="ellipse">
            <a:avLst/>
          </a:prstGeom>
          <a:solidFill>
            <a:srgbClr val="118D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i="0" lang="id-ID">
                <a:solidFill>
                  <a:srgbClr val="FFFFFF"/>
                </a:solidFill>
                <a:latin typeface="Segoe UI Semibold"/>
              </a:rPr>
              <a:t>1</a:t>
            </a:r>
          </a:p>
        </p:txBody>
      </p:sp>
      <p:sp>
        <p:nvSpPr>
          <p:cNvPr id="7" name="kartu_1_judul"/>
          <p:cNvSpPr txBox="1"/>
          <p:nvPr/>
        </p:nvSpPr>
        <p:spPr>
          <a:xfrm>
            <a:off x="1325880" y="2450591"/>
            <a:ext cx="2553919" cy="402336"/>
          </a:xfrm>
          <a:prstGeom prst="rect">
            <a:avLst/>
          </a:prstGeom>
          <a:noFill/>
        </p:spPr>
        <p:txBody>
          <a:bodyPr wrap="square" lIns="0" rIns="0" tIns="0" bIns="0" anchor="ctr">
            <a:noAutofit/>
          </a:bodyPr>
          <a:lstStyle/>
          <a:p>
            <a:pPr algn="l">
              <a:spcAft>
                <a:spcPts val="0"/>
              </a:spcAft>
            </a:pPr>
            <a:r>
              <a:rPr sz="1600" i="0" lang="id-ID">
                <a:solidFill>
                  <a:srgbClr val="1F2328"/>
                </a:solidFill>
                <a:latin typeface="Segoe UI Semibold"/>
              </a:rPr>
              <a:t>Program pembelian kedua</a:t>
            </a:r>
          </a:p>
        </p:txBody>
      </p:sp>
      <p:sp>
        <p:nvSpPr>
          <p:cNvPr id="8" name="kartu_1_bagian_1"/>
          <p:cNvSpPr txBox="1"/>
          <p:nvPr/>
        </p:nvSpPr>
        <p:spPr>
          <a:xfrm>
            <a:off x="822959" y="3035808"/>
            <a:ext cx="2965399" cy="1188720"/>
          </a:xfrm>
          <a:prstGeom prst="rect">
            <a:avLst/>
          </a:prstGeom>
          <a:noFill/>
        </p:spPr>
        <p:txBody>
          <a:bodyPr wrap="square" lIns="0" rIns="0" tIns="0" bIns="0" anchor="t">
            <a:noAutofit/>
          </a:bodyPr>
          <a:lstStyle/>
          <a:p>
            <a:pPr algn="l">
              <a:spcAft>
                <a:spcPts val="300"/>
              </a:spcAft>
            </a:pPr>
            <a:r>
              <a:rPr sz="1000" i="0" lang="id-ID">
                <a:solidFill>
                  <a:srgbClr val="5F6B7A"/>
                </a:solidFill>
                <a:latin typeface="Segoe UI Semibold"/>
              </a:rPr>
              <a:t>TUAS PLATFORM</a:t>
            </a:r>
          </a:p>
          <a:p>
            <a:pPr algn="l">
              <a:spcAft>
                <a:spcPts val="0"/>
              </a:spcAft>
            </a:pPr>
            <a:r>
              <a:rPr sz="1300" i="0" lang="id-ID">
                <a:solidFill>
                  <a:srgbClr val="1F2328"/>
                </a:solidFill>
                <a:latin typeface="Segoe UI"/>
              </a:rPr>
              <a:t>Voucher platform, notifikasi dan email, serta rekomendasi produk berdasarkan pembelian pertama; diuji dengan kelompok kontrol.</a:t>
            </a:r>
          </a:p>
        </p:txBody>
      </p:sp>
      <p:sp>
        <p:nvSpPr>
          <p:cNvPr id="9" name="kartu_1_bagian_2"/>
          <p:cNvSpPr txBox="1"/>
          <p:nvPr/>
        </p:nvSpPr>
        <p:spPr>
          <a:xfrm>
            <a:off x="822959" y="4279392"/>
            <a:ext cx="2965399" cy="603504"/>
          </a:xfrm>
          <a:prstGeom prst="rect">
            <a:avLst/>
          </a:prstGeom>
          <a:noFill/>
        </p:spPr>
        <p:txBody>
          <a:bodyPr wrap="square" lIns="0" rIns="0" tIns="0" bIns="0" anchor="t">
            <a:noAutofit/>
          </a:bodyPr>
          <a:lstStyle/>
          <a:p>
            <a:pPr algn="l">
              <a:spcAft>
                <a:spcPts val="300"/>
              </a:spcAft>
            </a:pPr>
            <a:r>
              <a:rPr sz="1000" i="0" lang="id-ID">
                <a:solidFill>
                  <a:srgbClr val="5F6B7A"/>
                </a:solidFill>
                <a:latin typeface="Segoe UI Semibold"/>
              </a:rPr>
              <a:t>PEMILIK</a:t>
            </a:r>
          </a:p>
          <a:p>
            <a:pPr algn="l">
              <a:spcAft>
                <a:spcPts val="0"/>
              </a:spcAft>
            </a:pPr>
            <a:r>
              <a:rPr sz="1300" i="0" lang="id-ID">
                <a:solidFill>
                  <a:srgbClr val="1F2328"/>
                </a:solidFill>
                <a:latin typeface="Segoe UI"/>
              </a:rPr>
              <a:t>CRM / Marketing Manager</a:t>
            </a:r>
          </a:p>
        </p:txBody>
      </p:sp>
      <p:sp>
        <p:nvSpPr>
          <p:cNvPr id="10" name="kartu_1_bagian_3"/>
          <p:cNvSpPr txBox="1"/>
          <p:nvPr/>
        </p:nvSpPr>
        <p:spPr>
          <a:xfrm>
            <a:off x="822959" y="4937760"/>
            <a:ext cx="2965399" cy="603504"/>
          </a:xfrm>
          <a:prstGeom prst="rect">
            <a:avLst/>
          </a:prstGeom>
          <a:noFill/>
        </p:spPr>
        <p:txBody>
          <a:bodyPr wrap="square" lIns="0" rIns="0" tIns="0" bIns="0" anchor="t">
            <a:noAutofit/>
          </a:bodyPr>
          <a:lstStyle/>
          <a:p>
            <a:pPr algn="l">
              <a:spcAft>
                <a:spcPts val="300"/>
              </a:spcAft>
            </a:pPr>
            <a:r>
              <a:rPr sz="1000" i="0" lang="id-ID">
                <a:solidFill>
                  <a:srgbClr val="5F6B7A"/>
                </a:solidFill>
                <a:latin typeface="Segoe UI Semibold"/>
              </a:rPr>
              <a:t>METRIK (BASELINE)</a:t>
            </a:r>
          </a:p>
          <a:p>
            <a:pPr algn="l">
              <a:spcAft>
                <a:spcPts val="0"/>
              </a:spcAft>
            </a:pPr>
            <a:r>
              <a:rPr sz="1300" i="0" lang="id-ID">
                <a:solidFill>
                  <a:srgbClr val="1F2328"/>
                </a:solidFill>
                <a:latin typeface="Segoe UI Semibold"/>
              </a:rPr>
              <a:t>Customer baru yang kembali dalam 12 bulan: 3,32%</a:t>
            </a:r>
          </a:p>
        </p:txBody>
      </p:sp>
      <p:sp>
        <p:nvSpPr>
          <p:cNvPr id="11" name="kartu_1_pagar"/>
          <p:cNvSpPr txBox="1"/>
          <p:nvPr/>
        </p:nvSpPr>
        <p:spPr>
          <a:xfrm>
            <a:off x="822959" y="5596128"/>
            <a:ext cx="2965399" cy="402336"/>
          </a:xfrm>
          <a:prstGeom prst="rect">
            <a:avLst/>
          </a:prstGeom>
          <a:noFill/>
        </p:spPr>
        <p:txBody>
          <a:bodyPr wrap="square" lIns="0" rIns="0" tIns="0" bIns="0" anchor="t">
            <a:noAutofit/>
          </a:bodyPr>
          <a:lstStyle/>
          <a:p>
            <a:pPr algn="l">
              <a:spcAft>
                <a:spcPts val="0"/>
              </a:spcAft>
            </a:pPr>
            <a:r>
              <a:rPr sz="1000" i="0" lang="id-ID">
                <a:solidFill>
                  <a:srgbClr val="5F6B7A"/>
                </a:solidFill>
                <a:latin typeface="Segoe UI Semibold"/>
              </a:rPr>
              <a:t>PAGAR  </a:t>
            </a:r>
            <a:r>
              <a:rPr sz="1200" i="0" lang="id-ID">
                <a:solidFill>
                  <a:srgbClr val="1F2328"/>
                </a:solidFill>
                <a:latin typeface="Segoe UI"/>
              </a:rPr>
              <a:t>AOV kelompok uji tidak turun dibanding kontrol</a:t>
            </a:r>
          </a:p>
        </p:txBody>
      </p:sp>
      <p:sp>
        <p:nvSpPr>
          <p:cNvPr id="12" name="bg_kartu_2"/>
          <p:cNvSpPr/>
          <p:nvPr/>
        </p:nvSpPr>
        <p:spPr>
          <a:xfrm>
            <a:off x="4336999" y="2212848"/>
            <a:ext cx="3514039" cy="3877056"/>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dge_2"/>
          <p:cNvSpPr/>
          <p:nvPr/>
        </p:nvSpPr>
        <p:spPr>
          <a:xfrm>
            <a:off x="4611319" y="2450591"/>
            <a:ext cx="402336" cy="402336"/>
          </a:xfrm>
          <a:prstGeom prst="ellipse">
            <a:avLst/>
          </a:prstGeom>
          <a:solidFill>
            <a:srgbClr val="118D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i="0" lang="id-ID">
                <a:solidFill>
                  <a:srgbClr val="FFFFFF"/>
                </a:solidFill>
                <a:latin typeface="Segoe UI Semibold"/>
              </a:rPr>
              <a:t>2</a:t>
            </a:r>
          </a:p>
        </p:txBody>
      </p:sp>
      <p:sp>
        <p:nvSpPr>
          <p:cNvPr id="14" name="kartu_2_judul"/>
          <p:cNvSpPr txBox="1"/>
          <p:nvPr/>
        </p:nvSpPr>
        <p:spPr>
          <a:xfrm>
            <a:off x="5114239" y="2450591"/>
            <a:ext cx="2553919" cy="402336"/>
          </a:xfrm>
          <a:prstGeom prst="rect">
            <a:avLst/>
          </a:prstGeom>
          <a:noFill/>
        </p:spPr>
        <p:txBody>
          <a:bodyPr wrap="square" lIns="0" rIns="0" tIns="0" bIns="0" anchor="ctr">
            <a:noAutofit/>
          </a:bodyPr>
          <a:lstStyle/>
          <a:p>
            <a:pPr algn="l">
              <a:spcAft>
                <a:spcPts val="0"/>
              </a:spcAft>
            </a:pPr>
            <a:r>
              <a:rPr sz="1600" i="0" lang="id-ID">
                <a:solidFill>
                  <a:srgbClr val="1F2328"/>
                </a:solidFill>
                <a:latin typeface="Segoe UI Semibold"/>
              </a:rPr>
              <a:t>Naikkan nilai per order</a:t>
            </a:r>
          </a:p>
        </p:txBody>
      </p:sp>
      <p:sp>
        <p:nvSpPr>
          <p:cNvPr id="15" name="kartu_2_bagian_1"/>
          <p:cNvSpPr txBox="1"/>
          <p:nvPr/>
        </p:nvSpPr>
        <p:spPr>
          <a:xfrm>
            <a:off x="4611319" y="3035808"/>
            <a:ext cx="2965399" cy="1188720"/>
          </a:xfrm>
          <a:prstGeom prst="rect">
            <a:avLst/>
          </a:prstGeom>
          <a:noFill/>
        </p:spPr>
        <p:txBody>
          <a:bodyPr wrap="square" lIns="0" rIns="0" tIns="0" bIns="0" anchor="t">
            <a:noAutofit/>
          </a:bodyPr>
          <a:lstStyle/>
          <a:p>
            <a:pPr algn="l">
              <a:spcAft>
                <a:spcPts val="300"/>
              </a:spcAft>
            </a:pPr>
            <a:r>
              <a:rPr sz="1000" i="0" lang="id-ID">
                <a:solidFill>
                  <a:srgbClr val="5F6B7A"/>
                </a:solidFill>
                <a:latin typeface="Segoe UI Semibold"/>
              </a:rPr>
              <a:t>TUAS PLATFORM</a:t>
            </a:r>
          </a:p>
          <a:p>
            <a:pPr algn="l">
              <a:spcAft>
                <a:spcPts val="0"/>
              </a:spcAft>
            </a:pPr>
            <a:r>
              <a:rPr sz="1300" i="0" lang="id-ID">
                <a:solidFill>
                  <a:srgbClr val="1F2328"/>
                </a:solidFill>
                <a:latin typeface="Segoe UI"/>
              </a:rPr>
              <a:t>Rekomendasi produk pelengkap, voucher untuk keranjang multi-item, dan ambang gratis ongkir yang disubsidi platform.</a:t>
            </a:r>
          </a:p>
        </p:txBody>
      </p:sp>
      <p:sp>
        <p:nvSpPr>
          <p:cNvPr id="16" name="kartu_2_bagian_2"/>
          <p:cNvSpPr txBox="1"/>
          <p:nvPr/>
        </p:nvSpPr>
        <p:spPr>
          <a:xfrm>
            <a:off x="4611319" y="4279392"/>
            <a:ext cx="2965399" cy="603504"/>
          </a:xfrm>
          <a:prstGeom prst="rect">
            <a:avLst/>
          </a:prstGeom>
          <a:noFill/>
        </p:spPr>
        <p:txBody>
          <a:bodyPr wrap="square" lIns="0" rIns="0" tIns="0" bIns="0" anchor="t">
            <a:noAutofit/>
          </a:bodyPr>
          <a:lstStyle/>
          <a:p>
            <a:pPr algn="l">
              <a:spcAft>
                <a:spcPts val="300"/>
              </a:spcAft>
            </a:pPr>
            <a:r>
              <a:rPr sz="1000" i="0" lang="id-ID">
                <a:solidFill>
                  <a:srgbClr val="5F6B7A"/>
                </a:solidFill>
                <a:latin typeface="Segoe UI Semibold"/>
              </a:rPr>
              <a:t>PEMILIK</a:t>
            </a:r>
          </a:p>
          <a:p>
            <a:pPr algn="l">
              <a:spcAft>
                <a:spcPts val="0"/>
              </a:spcAft>
            </a:pPr>
            <a:r>
              <a:rPr sz="1300" i="0" lang="id-ID">
                <a:solidFill>
                  <a:srgbClr val="1F2328"/>
                </a:solidFill>
                <a:latin typeface="Segoe UI"/>
              </a:rPr>
              <a:t>Head of Commercial</a:t>
            </a:r>
          </a:p>
        </p:txBody>
      </p:sp>
      <p:sp>
        <p:nvSpPr>
          <p:cNvPr id="17" name="kartu_2_bagian_3"/>
          <p:cNvSpPr txBox="1"/>
          <p:nvPr/>
        </p:nvSpPr>
        <p:spPr>
          <a:xfrm>
            <a:off x="4611319" y="4937760"/>
            <a:ext cx="2965399" cy="603504"/>
          </a:xfrm>
          <a:prstGeom prst="rect">
            <a:avLst/>
          </a:prstGeom>
          <a:noFill/>
        </p:spPr>
        <p:txBody>
          <a:bodyPr wrap="square" lIns="0" rIns="0" tIns="0" bIns="0" anchor="t">
            <a:noAutofit/>
          </a:bodyPr>
          <a:lstStyle/>
          <a:p>
            <a:pPr algn="l">
              <a:spcAft>
                <a:spcPts val="300"/>
              </a:spcAft>
            </a:pPr>
            <a:r>
              <a:rPr sz="1000" i="0" lang="id-ID">
                <a:solidFill>
                  <a:srgbClr val="5F6B7A"/>
                </a:solidFill>
                <a:latin typeface="Segoe UI Semibold"/>
              </a:rPr>
              <a:t>METRIK (BASELINE)</a:t>
            </a:r>
          </a:p>
          <a:p>
            <a:pPr algn="l">
              <a:spcAft>
                <a:spcPts val="0"/>
              </a:spcAft>
            </a:pPr>
            <a:r>
              <a:rPr sz="1300" i="0" lang="id-ID">
                <a:solidFill>
                  <a:srgbClr val="1F2328"/>
                </a:solidFill>
                <a:latin typeface="Segoe UI Semibold"/>
              </a:rPr>
              <a:t>Nilai per order (AOV): R$ 137,35</a:t>
            </a:r>
          </a:p>
        </p:txBody>
      </p:sp>
      <p:sp>
        <p:nvSpPr>
          <p:cNvPr id="18" name="kartu_2_pagar"/>
          <p:cNvSpPr txBox="1"/>
          <p:nvPr/>
        </p:nvSpPr>
        <p:spPr>
          <a:xfrm>
            <a:off x="4611319" y="5596128"/>
            <a:ext cx="2965399" cy="402336"/>
          </a:xfrm>
          <a:prstGeom prst="rect">
            <a:avLst/>
          </a:prstGeom>
          <a:noFill/>
        </p:spPr>
        <p:txBody>
          <a:bodyPr wrap="square" lIns="0" rIns="0" tIns="0" bIns="0" anchor="t">
            <a:noAutofit/>
          </a:bodyPr>
          <a:lstStyle/>
          <a:p>
            <a:pPr algn="l">
              <a:spcAft>
                <a:spcPts val="0"/>
              </a:spcAft>
            </a:pPr>
            <a:r>
              <a:rPr sz="1000" i="0" lang="id-ID">
                <a:solidFill>
                  <a:srgbClr val="5F6B7A"/>
                </a:solidFill>
                <a:latin typeface="Segoe UI Semibold"/>
              </a:rPr>
              <a:t>PAGAR  </a:t>
            </a:r>
            <a:r>
              <a:rPr sz="1200" i="0" lang="id-ID">
                <a:solidFill>
                  <a:srgbClr val="1F2328"/>
                </a:solidFill>
                <a:latin typeface="Segoe UI"/>
              </a:rPr>
              <a:t>jumlah order tidak turun</a:t>
            </a:r>
          </a:p>
        </p:txBody>
      </p:sp>
      <p:sp>
        <p:nvSpPr>
          <p:cNvPr id="19" name="bg_kartu_3"/>
          <p:cNvSpPr/>
          <p:nvPr/>
        </p:nvSpPr>
        <p:spPr>
          <a:xfrm>
            <a:off x="8125358" y="2212848"/>
            <a:ext cx="3514039" cy="3877056"/>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dge_3"/>
          <p:cNvSpPr/>
          <p:nvPr/>
        </p:nvSpPr>
        <p:spPr>
          <a:xfrm>
            <a:off x="8399678" y="2450591"/>
            <a:ext cx="402336" cy="402336"/>
          </a:xfrm>
          <a:prstGeom prst="ellipse">
            <a:avLst/>
          </a:prstGeom>
          <a:solidFill>
            <a:srgbClr val="118D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i="0" lang="id-ID">
                <a:solidFill>
                  <a:srgbClr val="FFFFFF"/>
                </a:solidFill>
                <a:latin typeface="Segoe UI Semibold"/>
              </a:rPr>
              <a:t>3</a:t>
            </a:r>
          </a:p>
        </p:txBody>
      </p:sp>
      <p:sp>
        <p:nvSpPr>
          <p:cNvPr id="21" name="kartu_3_judul"/>
          <p:cNvSpPr txBox="1"/>
          <p:nvPr/>
        </p:nvSpPr>
        <p:spPr>
          <a:xfrm>
            <a:off x="8902598" y="2450591"/>
            <a:ext cx="2553919" cy="402336"/>
          </a:xfrm>
          <a:prstGeom prst="rect">
            <a:avLst/>
          </a:prstGeom>
          <a:noFill/>
        </p:spPr>
        <p:txBody>
          <a:bodyPr wrap="square" lIns="0" rIns="0" tIns="0" bIns="0" anchor="ctr">
            <a:noAutofit/>
          </a:bodyPr>
          <a:lstStyle/>
          <a:p>
            <a:pPr algn="l">
              <a:spcAft>
                <a:spcPts val="0"/>
              </a:spcAft>
            </a:pPr>
            <a:r>
              <a:rPr sz="1600" i="0" lang="id-ID">
                <a:solidFill>
                  <a:srgbClr val="1F2328"/>
                </a:solidFill>
                <a:latin typeface="Segoe UI Semibold"/>
              </a:rPr>
              <a:t>Ringankan beban ongkir</a:t>
            </a:r>
          </a:p>
        </p:txBody>
      </p:sp>
      <p:sp>
        <p:nvSpPr>
          <p:cNvPr id="22" name="kartu_3_bagian_1"/>
          <p:cNvSpPr txBox="1"/>
          <p:nvPr/>
        </p:nvSpPr>
        <p:spPr>
          <a:xfrm>
            <a:off x="8399678" y="3035808"/>
            <a:ext cx="2965399" cy="1188720"/>
          </a:xfrm>
          <a:prstGeom prst="rect">
            <a:avLst/>
          </a:prstGeom>
          <a:noFill/>
        </p:spPr>
        <p:txBody>
          <a:bodyPr wrap="square" lIns="0" rIns="0" tIns="0" bIns="0" anchor="t">
            <a:noAutofit/>
          </a:bodyPr>
          <a:lstStyle/>
          <a:p>
            <a:pPr algn="l">
              <a:spcAft>
                <a:spcPts val="300"/>
              </a:spcAft>
            </a:pPr>
            <a:r>
              <a:rPr sz="1000" i="0" lang="id-ID">
                <a:solidFill>
                  <a:srgbClr val="5F6B7A"/>
                </a:solidFill>
                <a:latin typeface="Segoe UI Semibold"/>
              </a:rPr>
              <a:t>TUAS PLATFORM</a:t>
            </a:r>
          </a:p>
          <a:p>
            <a:pPr algn="l">
              <a:spcAft>
                <a:spcPts val="0"/>
              </a:spcAft>
            </a:pPr>
            <a:r>
              <a:rPr sz="1300" i="0" lang="id-ID">
                <a:solidFill>
                  <a:srgbClr val="1F2328"/>
                </a:solidFill>
                <a:latin typeface="Segoe UI"/>
              </a:rPr>
              <a:t>Rekomendasi “produk lain dari seller yang sama” dan gratis ongkir multi-item bersubsidi; subsidi terarah untuk office_furniture.</a:t>
            </a:r>
          </a:p>
        </p:txBody>
      </p:sp>
      <p:sp>
        <p:nvSpPr>
          <p:cNvPr id="23" name="kartu_3_bagian_2"/>
          <p:cNvSpPr txBox="1"/>
          <p:nvPr/>
        </p:nvSpPr>
        <p:spPr>
          <a:xfrm>
            <a:off x="8399678" y="4279392"/>
            <a:ext cx="2965399" cy="603504"/>
          </a:xfrm>
          <a:prstGeom prst="rect">
            <a:avLst/>
          </a:prstGeom>
          <a:noFill/>
        </p:spPr>
        <p:txBody>
          <a:bodyPr wrap="square" lIns="0" rIns="0" tIns="0" bIns="0" anchor="t">
            <a:noAutofit/>
          </a:bodyPr>
          <a:lstStyle/>
          <a:p>
            <a:pPr algn="l">
              <a:spcAft>
                <a:spcPts val="300"/>
              </a:spcAft>
            </a:pPr>
            <a:r>
              <a:rPr sz="1000" i="0" lang="id-ID">
                <a:solidFill>
                  <a:srgbClr val="5F6B7A"/>
                </a:solidFill>
                <a:latin typeface="Segoe UI Semibold"/>
              </a:rPr>
              <a:t>PEMILIK</a:t>
            </a:r>
          </a:p>
          <a:p>
            <a:pPr algn="l">
              <a:spcAft>
                <a:spcPts val="0"/>
              </a:spcAft>
            </a:pPr>
            <a:r>
              <a:rPr sz="1300" i="0" lang="id-ID">
                <a:solidFill>
                  <a:srgbClr val="1F2328"/>
                </a:solidFill>
                <a:latin typeface="Segoe UI"/>
              </a:rPr>
              <a:t>Category Manager, Operations / Logistics</a:t>
            </a:r>
          </a:p>
        </p:txBody>
      </p:sp>
      <p:sp>
        <p:nvSpPr>
          <p:cNvPr id="24" name="kartu_3_bagian_3"/>
          <p:cNvSpPr txBox="1"/>
          <p:nvPr/>
        </p:nvSpPr>
        <p:spPr>
          <a:xfrm>
            <a:off x="8399678" y="4937760"/>
            <a:ext cx="2965399" cy="603504"/>
          </a:xfrm>
          <a:prstGeom prst="rect">
            <a:avLst/>
          </a:prstGeom>
          <a:noFill/>
        </p:spPr>
        <p:txBody>
          <a:bodyPr wrap="square" lIns="0" rIns="0" tIns="0" bIns="0" anchor="t">
            <a:noAutofit/>
          </a:bodyPr>
          <a:lstStyle/>
          <a:p>
            <a:pPr algn="l">
              <a:spcAft>
                <a:spcPts val="300"/>
              </a:spcAft>
            </a:pPr>
            <a:r>
              <a:rPr sz="1000" i="0" lang="id-ID">
                <a:solidFill>
                  <a:srgbClr val="5F6B7A"/>
                </a:solidFill>
                <a:latin typeface="Segoe UI Semibold"/>
              </a:rPr>
              <a:t>METRIK (BASELINE)</a:t>
            </a:r>
          </a:p>
          <a:p>
            <a:pPr algn="l">
              <a:spcAft>
                <a:spcPts val="0"/>
              </a:spcAft>
            </a:pPr>
            <a:r>
              <a:rPr sz="1300" i="0" lang="id-ID">
                <a:solidFill>
                  <a:srgbClr val="1F2328"/>
                </a:solidFill>
                <a:latin typeface="Segoe UI Semibold"/>
              </a:rPr>
              <a:t>Freight burden (proxy): 16,57%</a:t>
            </a:r>
          </a:p>
        </p:txBody>
      </p:sp>
      <p:sp>
        <p:nvSpPr>
          <p:cNvPr id="25" name="kartu_3_pagar"/>
          <p:cNvSpPr txBox="1"/>
          <p:nvPr/>
        </p:nvSpPr>
        <p:spPr>
          <a:xfrm>
            <a:off x="8399678" y="5596128"/>
            <a:ext cx="2965399" cy="402336"/>
          </a:xfrm>
          <a:prstGeom prst="rect">
            <a:avLst/>
          </a:prstGeom>
          <a:noFill/>
        </p:spPr>
        <p:txBody>
          <a:bodyPr wrap="square" lIns="0" rIns="0" tIns="0" bIns="0" anchor="t">
            <a:noAutofit/>
          </a:bodyPr>
          <a:lstStyle/>
          <a:p>
            <a:pPr algn="l">
              <a:spcAft>
                <a:spcPts val="0"/>
              </a:spcAft>
            </a:pPr>
            <a:r>
              <a:rPr sz="1000" i="0" lang="id-ID">
                <a:solidFill>
                  <a:srgbClr val="5F6B7A"/>
                </a:solidFill>
                <a:latin typeface="Segoe UI Semibold"/>
              </a:rPr>
              <a:t>METRIK HASIL  </a:t>
            </a:r>
            <a:r>
              <a:rPr sz="1200" i="0" lang="id-ID">
                <a:solidFill>
                  <a:srgbClr val="1F2328"/>
                </a:solidFill>
                <a:latin typeface="Segoe UI"/>
              </a:rPr>
              <a:t>pertumbuhan order di kategori/state sasaran</a:t>
            </a:r>
          </a:p>
        </p:txBody>
      </p:sp>
      <p:cxnSp>
        <p:nvCxnSpPr>
          <p:cNvPr id="26" name="garis_footer"/>
          <p:cNvCxnSpPr/>
          <p:nvPr/>
        </p:nvCxnSpPr>
        <p:spPr>
          <a:xfrm>
            <a:off x="548640" y="6199632"/>
            <a:ext cx="11091672" cy="0"/>
          </a:xfrm>
          <a:prstGeom prst="line">
            <a:avLst/>
          </a:prstGeom>
          <a:ln w="9525">
            <a:solidFill>
              <a:srgbClr val="D0D7DE"/>
            </a:solidFill>
          </a:ln>
          <a:effectLst/>
        </p:spPr>
        <p:style>
          <a:lnRef idx="2">
            <a:schemeClr val="accent1"/>
          </a:lnRef>
          <a:fillRef idx="0">
            <a:schemeClr val="accent1"/>
          </a:fillRef>
          <a:effectRef idx="1">
            <a:schemeClr val="accent1"/>
          </a:effectRef>
          <a:fontRef idx="minor">
            <a:schemeClr val="tx1"/>
          </a:fontRef>
        </p:style>
      </p:cxnSp>
      <p:sp>
        <p:nvSpPr>
          <p:cNvPr id="27" name="footer_sumber"/>
          <p:cNvSpPr txBox="1"/>
          <p:nvPr/>
        </p:nvSpPr>
        <p:spPr>
          <a:xfrm>
            <a:off x="548640" y="6272784"/>
            <a:ext cx="10241280" cy="457200"/>
          </a:xfrm>
          <a:prstGeom prst="rect">
            <a:avLst/>
          </a:prstGeom>
          <a:noFill/>
        </p:spPr>
        <p:txBody>
          <a:bodyPr wrap="square" lIns="0" rIns="0" tIns="0" bIns="0" anchor="t">
            <a:noAutofit/>
          </a:bodyPr>
          <a:lstStyle/>
          <a:p>
            <a:pPr algn="l">
              <a:spcAft>
                <a:spcPts val="0"/>
              </a:spcAft>
            </a:pPr>
            <a:r>
              <a:rPr sz="900" i="0" lang="id-ID">
                <a:solidFill>
                  <a:srgbClr val="5F6B7A"/>
                </a:solidFill>
                <a:latin typeface="Segoe UI"/>
              </a:rPr>
              <a:t>Semua tuas dikendalikan platform, karena di marketplace harga dan ongkir ditentukan seller dan kurir. Dampak ditulis sebagai arah: biaya voucher dan subsidi belum bisa dihitung karena dataset tidak memuat cost. Baseline: results/03_q4d_cohort_12m_repeat.csv, results/05_kpi_total_filtered.csv · detail: docs/insights_and_recommendations.md</a:t>
            </a:r>
          </a:p>
        </p:txBody>
      </p:sp>
      <p:sp>
        <p:nvSpPr>
          <p:cNvPr id="28" name="footer_halaman"/>
          <p:cNvSpPr txBox="1"/>
          <p:nvPr/>
        </p:nvSpPr>
        <p:spPr>
          <a:xfrm>
            <a:off x="10908792" y="6272784"/>
            <a:ext cx="731520" cy="182880"/>
          </a:xfrm>
          <a:prstGeom prst="rect">
            <a:avLst/>
          </a:prstGeom>
          <a:noFill/>
        </p:spPr>
        <p:txBody>
          <a:bodyPr wrap="square" lIns="0" rIns="0" tIns="0" bIns="0" anchor="t">
            <a:noAutofit/>
          </a:bodyPr>
          <a:lstStyle/>
          <a:p>
            <a:pPr algn="r">
              <a:spcAft>
                <a:spcPts val="0"/>
              </a:spcAft>
            </a:pPr>
            <a:r>
              <a:rPr sz="900" i="0" lang="id-ID">
                <a:solidFill>
                  <a:srgbClr val="5F6B7A"/>
                </a:solidFill>
                <a:latin typeface="Segoe UI"/>
              </a:rPr>
              <a:t>6 / 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84048"/>
            <a:ext cx="11091672" cy="274320"/>
          </a:xfrm>
          <a:prstGeom prst="rect">
            <a:avLst/>
          </a:prstGeom>
          <a:noFill/>
        </p:spPr>
        <p:txBody>
          <a:bodyPr wrap="square" lIns="0" rIns="0" tIns="0" bIns="0" anchor="t">
            <a:noAutofit/>
          </a:bodyPr>
          <a:lstStyle/>
          <a:p>
            <a:pPr algn="l">
              <a:spcAft>
                <a:spcPts val="0"/>
              </a:spcAft>
            </a:pPr>
            <a:r>
              <a:rPr sz="1100" i="0" lang="id-ID">
                <a:solidFill>
                  <a:srgbClr val="118DFF"/>
                </a:solidFill>
                <a:latin typeface="Segoe UI Semibold"/>
              </a:rPr>
              <a:t>LANGKAH BERIKUTNYA</a:t>
            </a:r>
          </a:p>
        </p:txBody>
      </p:sp>
      <p:sp>
        <p:nvSpPr>
          <p:cNvPr id="3" name="judul"/>
          <p:cNvSpPr txBox="1"/>
          <p:nvPr/>
        </p:nvSpPr>
        <p:spPr>
          <a:xfrm>
            <a:off x="548640" y="658368"/>
            <a:ext cx="11091672" cy="914400"/>
          </a:xfrm>
          <a:prstGeom prst="rect">
            <a:avLst/>
          </a:prstGeom>
          <a:noFill/>
        </p:spPr>
        <p:txBody>
          <a:bodyPr wrap="square" lIns="0" rIns="0" tIns="0" bIns="0" anchor="t">
            <a:noAutofit/>
          </a:bodyPr>
          <a:lstStyle/>
          <a:p>
            <a:pPr algn="l">
              <a:lnSpc>
                <a:spcPct val="95000"/>
              </a:lnSpc>
              <a:spcAft>
                <a:spcPts val="0"/>
              </a:spcAft>
            </a:pPr>
            <a:r>
              <a:rPr sz="2600" i="0" lang="id-ID">
                <a:solidFill>
                  <a:srgbClr val="1F2328"/>
                </a:solidFill>
                <a:latin typeface="Segoe UI Semibold"/>
              </a:rPr>
              <a:t>Uji dulu, ukur terhadap baseline, lalu lengkapi data yang belum ada</a:t>
            </a:r>
          </a:p>
        </p:txBody>
      </p:sp>
      <p:sp>
        <p:nvSpPr>
          <p:cNvPr id="4" name="judul_langkah"/>
          <p:cNvSpPr txBox="1"/>
          <p:nvPr/>
        </p:nvSpPr>
        <p:spPr>
          <a:xfrm>
            <a:off x="548640" y="1737360"/>
            <a:ext cx="6675120" cy="274320"/>
          </a:xfrm>
          <a:prstGeom prst="rect">
            <a:avLst/>
          </a:prstGeom>
          <a:noFill/>
        </p:spPr>
        <p:txBody>
          <a:bodyPr wrap="square" lIns="0" rIns="0" tIns="0" bIns="0" anchor="t">
            <a:noAutofit/>
          </a:bodyPr>
          <a:lstStyle/>
          <a:p>
            <a:pPr algn="l">
              <a:spcAft>
                <a:spcPts val="0"/>
              </a:spcAft>
            </a:pPr>
            <a:r>
              <a:rPr sz="1100" i="0" lang="id-ID">
                <a:solidFill>
                  <a:srgbClr val="5F6B7A"/>
                </a:solidFill>
                <a:latin typeface="Segoe UI Semibold"/>
              </a:rPr>
              <a:t>URUTAN LANGKAH</a:t>
            </a:r>
          </a:p>
        </p:txBody>
      </p:sp>
      <p:sp>
        <p:nvSpPr>
          <p:cNvPr id="5" name="badge_1"/>
          <p:cNvSpPr/>
          <p:nvPr/>
        </p:nvSpPr>
        <p:spPr>
          <a:xfrm>
            <a:off x="548640" y="2148840"/>
            <a:ext cx="365760" cy="365760"/>
          </a:xfrm>
          <a:prstGeom prst="ellipse">
            <a:avLst/>
          </a:prstGeom>
          <a:solidFill>
            <a:srgbClr val="118D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i="0" lang="id-ID">
                <a:solidFill>
                  <a:srgbClr val="FFFFFF"/>
                </a:solidFill>
                <a:latin typeface="Segoe UI Semibold"/>
              </a:rPr>
              <a:t>1</a:t>
            </a:r>
          </a:p>
        </p:txBody>
      </p:sp>
      <p:sp>
        <p:nvSpPr>
          <p:cNvPr id="6" name="langkah_1"/>
          <p:cNvSpPr txBox="1"/>
          <p:nvPr/>
        </p:nvSpPr>
        <p:spPr>
          <a:xfrm>
            <a:off x="1097280" y="2167128"/>
            <a:ext cx="6126480" cy="749808"/>
          </a:xfrm>
          <a:prstGeom prst="rect">
            <a:avLst/>
          </a:prstGeom>
          <a:noFill/>
        </p:spPr>
        <p:txBody>
          <a:bodyPr wrap="square" lIns="0" rIns="0" tIns="0" bIns="0" anchor="t">
            <a:noAutofit/>
          </a:bodyPr>
          <a:lstStyle/>
          <a:p>
            <a:pPr algn="l">
              <a:spcAft>
                <a:spcPts val="0"/>
              </a:spcAft>
            </a:pPr>
            <a:r>
              <a:rPr sz="1400" i="0" lang="id-ID">
                <a:solidFill>
                  <a:srgbClr val="1F2328"/>
                </a:solidFill>
                <a:latin typeface="Segoe UI"/>
              </a:rPr>
              <a:t>Rancang eksperimen untuk prioritas 1 dan 2: kelompok uji vs kelompok kontrol, dengan metrik dan baseline di slide sebelumnya.</a:t>
            </a:r>
          </a:p>
        </p:txBody>
      </p:sp>
      <p:sp>
        <p:nvSpPr>
          <p:cNvPr id="7" name="badge_2"/>
          <p:cNvSpPr/>
          <p:nvPr/>
        </p:nvSpPr>
        <p:spPr>
          <a:xfrm>
            <a:off x="548640" y="2990088"/>
            <a:ext cx="365760" cy="365760"/>
          </a:xfrm>
          <a:prstGeom prst="ellipse">
            <a:avLst/>
          </a:prstGeom>
          <a:solidFill>
            <a:srgbClr val="118D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i="0" lang="id-ID">
                <a:solidFill>
                  <a:srgbClr val="FFFFFF"/>
                </a:solidFill>
                <a:latin typeface="Segoe UI Semibold"/>
              </a:rPr>
              <a:t>2</a:t>
            </a:r>
          </a:p>
        </p:txBody>
      </p:sp>
      <p:sp>
        <p:nvSpPr>
          <p:cNvPr id="8" name="langkah_2"/>
          <p:cNvSpPr txBox="1"/>
          <p:nvPr/>
        </p:nvSpPr>
        <p:spPr>
          <a:xfrm>
            <a:off x="1097280" y="3008376"/>
            <a:ext cx="6126480" cy="749808"/>
          </a:xfrm>
          <a:prstGeom prst="rect">
            <a:avLst/>
          </a:prstGeom>
          <a:noFill/>
        </p:spPr>
        <p:txBody>
          <a:bodyPr wrap="square" lIns="0" rIns="0" tIns="0" bIns="0" anchor="t">
            <a:noAutofit/>
          </a:bodyPr>
          <a:lstStyle/>
          <a:p>
            <a:pPr algn="l">
              <a:spcAft>
                <a:spcPts val="0"/>
              </a:spcAft>
            </a:pPr>
            <a:r>
              <a:rPr sz="1400" i="0" lang="id-ID">
                <a:solidFill>
                  <a:srgbClr val="1F2328"/>
                </a:solidFill>
                <a:latin typeface="Segoe UI"/>
              </a:rPr>
              <a:t>Kerjakan analisis lanjutan dari data yang sudah ada: repeat rate per kategori pembelian pertama, komposisi kategori per desil, serta ongkir per item pada order satu item vs banyak item.</a:t>
            </a:r>
          </a:p>
        </p:txBody>
      </p:sp>
      <p:sp>
        <p:nvSpPr>
          <p:cNvPr id="9" name="badge_3"/>
          <p:cNvSpPr/>
          <p:nvPr/>
        </p:nvSpPr>
        <p:spPr>
          <a:xfrm>
            <a:off x="548640" y="3831336"/>
            <a:ext cx="365760" cy="365760"/>
          </a:xfrm>
          <a:prstGeom prst="ellipse">
            <a:avLst/>
          </a:prstGeom>
          <a:solidFill>
            <a:srgbClr val="118D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i="0" lang="id-ID">
                <a:solidFill>
                  <a:srgbClr val="FFFFFF"/>
                </a:solidFill>
                <a:latin typeface="Segoe UI Semibold"/>
              </a:rPr>
              <a:t>3</a:t>
            </a:r>
          </a:p>
        </p:txBody>
      </p:sp>
      <p:sp>
        <p:nvSpPr>
          <p:cNvPr id="10" name="langkah_3"/>
          <p:cNvSpPr txBox="1"/>
          <p:nvPr/>
        </p:nvSpPr>
        <p:spPr>
          <a:xfrm>
            <a:off x="1097280" y="3849624"/>
            <a:ext cx="6126480" cy="749808"/>
          </a:xfrm>
          <a:prstGeom prst="rect">
            <a:avLst/>
          </a:prstGeom>
          <a:noFill/>
        </p:spPr>
        <p:txBody>
          <a:bodyPr wrap="square" lIns="0" rIns="0" tIns="0" bIns="0" anchor="t">
            <a:noAutofit/>
          </a:bodyPr>
          <a:lstStyle/>
          <a:p>
            <a:pPr algn="l">
              <a:spcAft>
                <a:spcPts val="0"/>
              </a:spcAft>
            </a:pPr>
            <a:r>
              <a:rPr sz="1400" i="0" lang="id-ID">
                <a:solidFill>
                  <a:srgbClr val="1F2328"/>
                </a:solidFill>
                <a:latin typeface="Segoe UI"/>
              </a:rPr>
              <a:t>Lengkapi data yang belum ada: cost dan komisi (untuk menghitung biaya program), histori promo, lokasi seller, serta berat dan dimensi produk.</a:t>
            </a:r>
          </a:p>
        </p:txBody>
      </p:sp>
      <p:sp>
        <p:nvSpPr>
          <p:cNvPr id="11" name="badge_4"/>
          <p:cNvSpPr/>
          <p:nvPr/>
        </p:nvSpPr>
        <p:spPr>
          <a:xfrm>
            <a:off x="548640" y="4672584"/>
            <a:ext cx="365760" cy="365760"/>
          </a:xfrm>
          <a:prstGeom prst="ellipse">
            <a:avLst/>
          </a:prstGeom>
          <a:solidFill>
            <a:srgbClr val="118D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i="0" lang="id-ID">
                <a:solidFill>
                  <a:srgbClr val="FFFFFF"/>
                </a:solidFill>
                <a:latin typeface="Segoe UI Semibold"/>
              </a:rPr>
              <a:t>4</a:t>
            </a:r>
          </a:p>
        </p:txBody>
      </p:sp>
      <p:sp>
        <p:nvSpPr>
          <p:cNvPr id="12" name="langkah_4"/>
          <p:cNvSpPr txBox="1"/>
          <p:nvPr/>
        </p:nvSpPr>
        <p:spPr>
          <a:xfrm>
            <a:off x="1097280" y="4690872"/>
            <a:ext cx="6126480" cy="749808"/>
          </a:xfrm>
          <a:prstGeom prst="rect">
            <a:avLst/>
          </a:prstGeom>
          <a:noFill/>
        </p:spPr>
        <p:txBody>
          <a:bodyPr wrap="square" lIns="0" rIns="0" tIns="0" bIns="0" anchor="t">
            <a:noAutofit/>
          </a:bodyPr>
          <a:lstStyle/>
          <a:p>
            <a:pPr algn="l">
              <a:spcAft>
                <a:spcPts val="0"/>
              </a:spcAft>
            </a:pPr>
            <a:r>
              <a:rPr sz="1400" i="0" lang="id-ID">
                <a:solidFill>
                  <a:srgbClr val="1F2328"/>
                </a:solidFill>
                <a:latin typeface="Segoe UI"/>
              </a:rPr>
              <a:t>Pantau KPI secara rutin lewat dashboard Power BI.</a:t>
            </a:r>
          </a:p>
        </p:txBody>
      </p:sp>
      <p:sp>
        <p:nvSpPr>
          <p:cNvPr id="13" name="bg_keterbatasan"/>
          <p:cNvSpPr/>
          <p:nvPr/>
        </p:nvSpPr>
        <p:spPr>
          <a:xfrm>
            <a:off x="7589520" y="1737360"/>
            <a:ext cx="4050791" cy="361188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keterbatasan"/>
          <p:cNvSpPr txBox="1"/>
          <p:nvPr/>
        </p:nvSpPr>
        <p:spPr>
          <a:xfrm>
            <a:off x="7863840" y="2011679"/>
            <a:ext cx="3502151" cy="3063240"/>
          </a:xfrm>
          <a:prstGeom prst="rect">
            <a:avLst/>
          </a:prstGeom>
          <a:noFill/>
        </p:spPr>
        <p:txBody>
          <a:bodyPr wrap="square" lIns="0" rIns="0" tIns="0" bIns="0" anchor="t">
            <a:noAutofit/>
          </a:bodyPr>
          <a:lstStyle/>
          <a:p>
            <a:pPr algn="l">
              <a:spcAft>
                <a:spcPts val="600"/>
              </a:spcAft>
            </a:pPr>
            <a:r>
              <a:rPr sz="1100" i="0" lang="id-ID">
                <a:solidFill>
                  <a:srgbClr val="5F6B7A"/>
                </a:solidFill>
                <a:latin typeface="Segoe UI Semibold"/>
              </a:rPr>
              <a:t>KETERBATASAN</a:t>
            </a:r>
          </a:p>
          <a:p>
            <a:pPr algn="l" marL="201168" indent="-201168">
              <a:spcAft>
                <a:spcPts val="800"/>
              </a:spcAft>
              <a:buChar char="•"/>
            </a:pPr>
            <a:r>
              <a:rPr sz="1300" i="0" lang="id-ID">
                <a:solidFill>
                  <a:srgbClr val="1F2328"/>
                </a:solidFill>
                <a:latin typeface="Segoe UI"/>
              </a:rPr>
              <a:t>Tidak ada data cost, profit, atau komisi: freight burden hanya proxy, dan dampak finansial rekomendasi belum bisa dihitung.</a:t>
            </a:r>
          </a:p>
          <a:p>
            <a:pPr algn="l" marL="201168" indent="-201168">
              <a:spcAft>
                <a:spcPts val="800"/>
              </a:spcAft>
              <a:buChar char="•"/>
            </a:pPr>
            <a:r>
              <a:rPr sz="1300" i="0" lang="id-ID">
                <a:solidFill>
                  <a:srgbClr val="1F2328"/>
                </a:solidFill>
                <a:latin typeface="Segoe UI"/>
              </a:rPr>
              <a:t>Jendela analisis Jan 2017 – Jul 2018; data Agustus 2018 terpotong sehingga dikecualikan.</a:t>
            </a:r>
          </a:p>
          <a:p>
            <a:pPr algn="l" marL="201168" indent="-201168">
              <a:spcAft>
                <a:spcPts val="0"/>
              </a:spcAft>
              <a:buChar char="•"/>
            </a:pPr>
            <a:r>
              <a:rPr sz="1300" i="0" lang="id-ID">
                <a:solidFill>
                  <a:srgbClr val="1F2328"/>
                </a:solidFill>
                <a:latin typeface="Segoe UI"/>
              </a:rPr>
              <a:t>Penyebab masih berupa hipotesis dan korelasi bukan sebab-akibat, jadi rekomendasi perlu diuji dulu.</a:t>
            </a:r>
          </a:p>
        </p:txBody>
      </p:sp>
      <p:cxnSp>
        <p:nvCxnSpPr>
          <p:cNvPr id="15" name="garis_link"/>
          <p:cNvCxnSpPr/>
          <p:nvPr/>
        </p:nvCxnSpPr>
        <p:spPr>
          <a:xfrm>
            <a:off x="548640" y="5468112"/>
            <a:ext cx="11091672" cy="0"/>
          </a:xfrm>
          <a:prstGeom prst="line">
            <a:avLst/>
          </a:prstGeom>
          <a:ln w="9525">
            <a:solidFill>
              <a:srgbClr val="D0D7DE"/>
            </a:solidFill>
          </a:ln>
          <a:effectLst/>
        </p:spPr>
        <p:style>
          <a:lnRef idx="2">
            <a:schemeClr val="accent1"/>
          </a:lnRef>
          <a:fillRef idx="0">
            <a:schemeClr val="accent1"/>
          </a:fillRef>
          <a:effectRef idx="1">
            <a:schemeClr val="accent1"/>
          </a:effectRef>
          <a:fontRef idx="minor">
            <a:schemeClr val="tx1"/>
          </a:fontRef>
        </p:style>
      </p:cxnSp>
      <p:sp>
        <p:nvSpPr>
          <p:cNvPr id="16" name="link_dashboard"/>
          <p:cNvSpPr txBox="1"/>
          <p:nvPr/>
        </p:nvSpPr>
        <p:spPr>
          <a:xfrm>
            <a:off x="548640" y="5559552"/>
            <a:ext cx="11091672" cy="256032"/>
          </a:xfrm>
          <a:prstGeom prst="rect">
            <a:avLst/>
          </a:prstGeom>
          <a:noFill/>
        </p:spPr>
        <p:txBody>
          <a:bodyPr wrap="square" lIns="0" rIns="0" tIns="0" bIns="0" anchor="t">
            <a:noAutofit/>
          </a:bodyPr>
          <a:lstStyle/>
          <a:p>
            <a:pPr algn="l">
              <a:spcAft>
                <a:spcPts val="0"/>
              </a:spcAft>
            </a:pPr>
            <a:r>
              <a:rPr sz="1200" i="0" lang="id-ID">
                <a:solidFill>
                  <a:srgbClr val="1F2328"/>
                </a:solidFill>
                <a:latin typeface="Segoe UI Semibold"/>
              </a:rPr>
              <a:t>Dashboard interaktif (Publish to web): </a:t>
            </a:r>
            <a:r>
              <a:rPr sz="1200" i="0" lang="id-ID">
                <a:solidFill>
                  <a:srgbClr val="118DFF"/>
                </a:solidFill>
                <a:latin typeface="Segoe UI"/>
                <a:hlinkClick r:id="rId2"/>
              </a:rPr>
              <a:t>buka dashboard Power BI</a:t>
            </a:r>
            <a:r>
              <a:rPr sz="1200" i="0" lang="id-ID">
                <a:solidFill>
                  <a:srgbClr val="1F2328"/>
                </a:solidFill>
                <a:latin typeface="Segoe UI"/>
              </a:rPr>
              <a:t> </a:t>
            </a:r>
          </a:p>
        </p:txBody>
      </p:sp>
      <p:sp>
        <p:nvSpPr>
          <p:cNvPr id="17" name="link_repo"/>
          <p:cNvSpPr txBox="1"/>
          <p:nvPr/>
        </p:nvSpPr>
        <p:spPr>
          <a:xfrm>
            <a:off x="548640" y="5852160"/>
            <a:ext cx="11091672" cy="256032"/>
          </a:xfrm>
          <a:prstGeom prst="rect">
            <a:avLst/>
          </a:prstGeom>
          <a:noFill/>
        </p:spPr>
        <p:txBody>
          <a:bodyPr wrap="square" lIns="0" rIns="0" tIns="0" bIns="0" anchor="t">
            <a:noAutofit/>
          </a:bodyPr>
          <a:lstStyle/>
          <a:p>
            <a:pPr algn="l">
              <a:spcAft>
                <a:spcPts val="0"/>
              </a:spcAft>
            </a:pPr>
            <a:r>
              <a:rPr sz="1200" i="0" lang="id-ID">
                <a:solidFill>
                  <a:srgbClr val="1F2328"/>
                </a:solidFill>
                <a:latin typeface="Segoe UI Semibold"/>
              </a:rPr>
              <a:t>Kode &amp; analisis (GitHub): </a:t>
            </a:r>
            <a:r>
              <a:rPr sz="1200" i="0" lang="id-ID">
                <a:solidFill>
                  <a:srgbClr val="118DFF"/>
                </a:solidFill>
                <a:latin typeface="Segoe UI"/>
                <a:hlinkClick r:id="rId3"/>
              </a:rPr>
              <a:t>github.com/justinchristroper-arch/nusamart-ecommerce-analytics</a:t>
            </a:r>
            <a:r>
              <a:rPr sz="1200" i="0" lang="id-ID">
                <a:solidFill>
                  <a:srgbClr val="1F2328"/>
                </a:solidFill>
                <a:latin typeface="Segoe UI"/>
              </a:rPr>
              <a:t> </a:t>
            </a:r>
          </a:p>
        </p:txBody>
      </p:sp>
      <p:cxnSp>
        <p:nvCxnSpPr>
          <p:cNvPr id="18" name="garis_footer"/>
          <p:cNvCxnSpPr/>
          <p:nvPr/>
        </p:nvCxnSpPr>
        <p:spPr>
          <a:xfrm>
            <a:off x="548640" y="6199632"/>
            <a:ext cx="11091672" cy="0"/>
          </a:xfrm>
          <a:prstGeom prst="line">
            <a:avLst/>
          </a:prstGeom>
          <a:ln w="9525">
            <a:solidFill>
              <a:srgbClr val="D0D7DE"/>
            </a:solidFill>
          </a:ln>
          <a:effectLst/>
        </p:spPr>
        <p:style>
          <a:lnRef idx="2">
            <a:schemeClr val="accent1"/>
          </a:lnRef>
          <a:fillRef idx="0">
            <a:schemeClr val="accent1"/>
          </a:fillRef>
          <a:effectRef idx="1">
            <a:schemeClr val="accent1"/>
          </a:effectRef>
          <a:fontRef idx="minor">
            <a:schemeClr val="tx1"/>
          </a:fontRef>
        </p:style>
      </p:cxnSp>
      <p:sp>
        <p:nvSpPr>
          <p:cNvPr id="19" name="footer_sumber"/>
          <p:cNvSpPr txBox="1"/>
          <p:nvPr/>
        </p:nvSpPr>
        <p:spPr>
          <a:xfrm>
            <a:off x="548640" y="6272784"/>
            <a:ext cx="10241280" cy="457200"/>
          </a:xfrm>
          <a:prstGeom prst="rect">
            <a:avLst/>
          </a:prstGeom>
          <a:noFill/>
        </p:spPr>
        <p:txBody>
          <a:bodyPr wrap="square" lIns="0" rIns="0" tIns="0" bIns="0" anchor="t">
            <a:noAutofit/>
          </a:bodyPr>
          <a:lstStyle/>
          <a:p>
            <a:pPr algn="l">
              <a:spcAft>
                <a:spcPts val="0"/>
              </a:spcAft>
            </a:pPr>
            <a:r>
              <a:rPr sz="900" i="0" lang="id-ID">
                <a:solidFill>
                  <a:srgbClr val="5F6B7A"/>
                </a:solidFill>
                <a:latin typeface="Segoe UI"/>
              </a:rPr>
              <a:t>Detail temuan, hipotesis, dan rekomendasi: docs/insights_and_recommendations.md · semua angka di deck ini berasal dari results/ (hasil query SQL)</a:t>
            </a:r>
          </a:p>
        </p:txBody>
      </p:sp>
      <p:sp>
        <p:nvSpPr>
          <p:cNvPr id="20" name="footer_halaman"/>
          <p:cNvSpPr txBox="1"/>
          <p:nvPr/>
        </p:nvSpPr>
        <p:spPr>
          <a:xfrm>
            <a:off x="10908792" y="6272784"/>
            <a:ext cx="731520" cy="182880"/>
          </a:xfrm>
          <a:prstGeom prst="rect">
            <a:avLst/>
          </a:prstGeom>
          <a:noFill/>
        </p:spPr>
        <p:txBody>
          <a:bodyPr wrap="square" lIns="0" rIns="0" tIns="0" bIns="0" anchor="t">
            <a:noAutofit/>
          </a:bodyPr>
          <a:lstStyle/>
          <a:p>
            <a:pPr algn="r">
              <a:spcAft>
                <a:spcPts val="0"/>
              </a:spcAft>
            </a:pPr>
            <a:r>
              <a:rPr sz="900" i="0" lang="id-ID">
                <a:solidFill>
                  <a:srgbClr val="5F6B7A"/>
                </a:solidFill>
                <a:latin typeface="Segoe UI"/>
              </a:rPr>
              <a:t>7 / 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NusaMart — Executive Summary</dc:title>
  <dc:subject>Temuan utama dan rekomendasi, jendela analisis Jan 2017 – Jul 2018</dc:subject>
  <dc:creator>Justin Christroper</dc:creator>
  <cp:keywords>NusaMart; Olist; e-commerce; executive summary</cp:keywords>
  <dc:description>Dibuat oleh src/build_executive_summary.py dari file di results/</dc:description>
  <cp:lastModifiedBy>Justin Christroper</cp:lastModifiedBy>
  <cp:revision>1</cp:revision>
  <dcterms:created xsi:type="dcterms:W3CDTF">2026-09-25T19:32:30Z</dcterms:created>
  <dcterms:modified xsi:type="dcterms:W3CDTF">2026-09-25T19:32:30Z</dcterms:modified>
  <cp:category/>
</cp:coreProperties>
</file>